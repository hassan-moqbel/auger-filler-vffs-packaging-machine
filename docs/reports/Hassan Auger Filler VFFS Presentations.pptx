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77" r:id="rId4"/>
    <p:sldId id="278" r:id="rId5"/>
    <p:sldId id="258" r:id="rId6"/>
    <p:sldId id="259" r:id="rId7"/>
    <p:sldId id="260" r:id="rId8"/>
    <p:sldId id="281" r:id="rId9"/>
    <p:sldId id="268" r:id="rId10"/>
    <p:sldId id="261" r:id="rId11"/>
    <p:sldId id="286" r:id="rId12"/>
    <p:sldId id="283" r:id="rId13"/>
    <p:sldId id="284" r:id="rId14"/>
    <p:sldId id="294" r:id="rId15"/>
    <p:sldId id="285" r:id="rId16"/>
    <p:sldId id="262" r:id="rId17"/>
    <p:sldId id="269" r:id="rId18"/>
    <p:sldId id="293" r:id="rId19"/>
    <p:sldId id="292" r:id="rId20"/>
    <p:sldId id="270" r:id="rId21"/>
    <p:sldId id="271" r:id="rId22"/>
    <p:sldId id="282" r:id="rId23"/>
    <p:sldId id="263" r:id="rId24"/>
    <p:sldId id="264" r:id="rId25"/>
    <p:sldId id="274" r:id="rId26"/>
    <p:sldId id="275" r:id="rId27"/>
    <p:sldId id="276" r:id="rId28"/>
    <p:sldId id="266" r:id="rId29"/>
    <p:sldId id="287" r:id="rId30"/>
    <p:sldId id="290" r:id="rId31"/>
    <p:sldId id="288" r:id="rId32"/>
    <p:sldId id="267" r:id="rId33"/>
    <p:sldId id="291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291465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D2E90D7-31AA-9643-BB2A-A8E42D7033E2}" type="datetimeFigureOut">
              <a:rPr lang="ar-YE" smtClean="0"/>
              <a:t>29/08/1447</a:t>
            </a:fld>
            <a:endParaRPr lang="ar-YE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YE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YE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291465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B128887-DF1F-8841-A70A-A84507FAECE0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44988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tmp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9.tmp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jpeg" /><Relationship Id="rId5" Type="http://schemas.openxmlformats.org/officeDocument/2006/relationships/image" Target="../media/image15.jpeg" /><Relationship Id="rId4" Type="http://schemas.openxmlformats.org/officeDocument/2006/relationships/image" Target="../media/image14.jpe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1.jpeg" /><Relationship Id="rId4" Type="http://schemas.openxmlformats.org/officeDocument/2006/relationships/image" Target="../media/image20.jpe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 /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 /><Relationship Id="rId2" Type="http://schemas.openxmlformats.org/officeDocument/2006/relationships/image" Target="../media/image27.jpe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1.jpeg" /><Relationship Id="rId5" Type="http://schemas.openxmlformats.org/officeDocument/2006/relationships/image" Target="../media/image30.jpeg" /><Relationship Id="rId4" Type="http://schemas.openxmlformats.org/officeDocument/2006/relationships/image" Target="../media/image29.jpe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6.png" /><Relationship Id="rId5" Type="http://schemas.openxmlformats.org/officeDocument/2006/relationships/image" Target="../media/image35.png" /><Relationship Id="rId4" Type="http://schemas.openxmlformats.org/officeDocument/2006/relationships/image" Target="../media/image34.png" 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 /><Relationship Id="rId3" Type="http://schemas.openxmlformats.org/officeDocument/2006/relationships/image" Target="../media/image38.png" /><Relationship Id="rId7" Type="http://schemas.openxmlformats.org/officeDocument/2006/relationships/image" Target="../media/image42.png" /><Relationship Id="rId2" Type="http://schemas.openxmlformats.org/officeDocument/2006/relationships/image" Target="../media/image37.emf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1.png" /><Relationship Id="rId5" Type="http://schemas.openxmlformats.org/officeDocument/2006/relationships/image" Target="../media/image40.png" /><Relationship Id="rId4" Type="http://schemas.openxmlformats.org/officeDocument/2006/relationships/image" Target="../media/image39.png" /><Relationship Id="rId9" Type="http://schemas.openxmlformats.org/officeDocument/2006/relationships/image" Target="../media/image44.jpe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 /><Relationship Id="rId2" Type="http://schemas.openxmlformats.org/officeDocument/2006/relationships/image" Target="../media/image45.jpeg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 /><Relationship Id="rId2" Type="http://schemas.openxmlformats.org/officeDocument/2006/relationships/image" Target="../media/image47.jpe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0.jpeg" /><Relationship Id="rId4" Type="http://schemas.openxmlformats.org/officeDocument/2006/relationships/image" Target="../media/image49.jpe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 /><Relationship Id="rId2" Type="http://schemas.openxmlformats.org/officeDocument/2006/relationships/image" Target="../media/image51.jpeg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 /><Relationship Id="rId3" Type="http://schemas.openxmlformats.org/officeDocument/2006/relationships/slideLayout" Target="../slideLayouts/slideLayout1.xml" /><Relationship Id="rId7" Type="http://schemas.openxmlformats.org/officeDocument/2006/relationships/image" Target="../media/image56.jpeg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6" Type="http://schemas.openxmlformats.org/officeDocument/2006/relationships/image" Target="../media/image55.jpeg" /><Relationship Id="rId5" Type="http://schemas.openxmlformats.org/officeDocument/2006/relationships/image" Target="../media/image54.png" /><Relationship Id="rId4" Type="http://schemas.openxmlformats.org/officeDocument/2006/relationships/notesSlide" Target="../notesSlides/notesSlide9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 /><Relationship Id="rId2" Type="http://schemas.openxmlformats.org/officeDocument/2006/relationships/image" Target="../media/image58.jpeg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 /><Relationship Id="rId2" Type="http://schemas.openxmlformats.org/officeDocument/2006/relationships/image" Target="../media/image61.jpe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3.jpeg" /><Relationship Id="rId4" Type="http://schemas.openxmlformats.org/officeDocument/2006/relationships/image" Target="../media/image59.jpe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06379"/>
            <a:ext cx="8286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C3E50"/>
                </a:solidFill>
              </a:rPr>
              <a:t>Design and Analysis of a VFFS Auger Filler Machine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001729" y="2217939"/>
            <a:ext cx="514054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34495E"/>
                </a:solidFill>
              </a:rPr>
              <a:t>From Theoretical Design to Structural Validation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2714625" y="2701928"/>
            <a:ext cx="3714750" cy="10429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714625" y="2701928"/>
            <a:ext cx="3714750" cy="1428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4"/>
          <p:cNvSpPr/>
          <p:nvPr/>
        </p:nvSpPr>
        <p:spPr>
          <a:xfrm>
            <a:off x="3501193" y="3016253"/>
            <a:ext cx="2141613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ar-YE" sz="1193" b="1">
                <a:solidFill>
                  <a:srgbClr val="2C3E50"/>
                </a:solidFill>
              </a:rPr>
              <a:t>Preper</a:t>
            </a:r>
            <a:r>
              <a:rPr lang="en-US" sz="1193" b="1">
                <a:solidFill>
                  <a:srgbClr val="2C3E50"/>
                </a:solidFill>
              </a:rPr>
              <a:t>: </a:t>
            </a:r>
            <a:r>
              <a:rPr lang="en-US" sz="1193" b="1" dirty="0">
                <a:solidFill>
                  <a:srgbClr val="2C3E50"/>
                </a:solidFill>
              </a:rPr>
              <a:t>Hassan Moqbel Morshed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2714625" y="3393086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E67E22"/>
                </a:solidFill>
              </a:rPr>
              <a:t>February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1209"/>
            <a:ext cx="4143375" cy="62507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Introduction &amp; Project Overview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93462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Definition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28625" y="1745280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VFFS (Vertical Form Fill Seal) is an automated packaging system used for powders and granules.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253881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Objective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2505698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To design a high-precision Auger Filler system specifically for corrosive materials like salt.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3014300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Key Features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326611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High dosing accuracy with Servo-driven precision.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3491843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Corrosion-resistant materials (AISI 316L/304) for food safety.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8625" y="3717568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Advanced control system using ESP32 with FreeRTOS.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28625" y="3943294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Mass flow optimization for high-density materials (1300 kg/m³).</a:t>
            </a:r>
            <a:endParaRPr lang="en-US" sz="834" dirty="0"/>
          </a:p>
        </p:txBody>
      </p:sp>
      <p:pic>
        <p:nvPicPr>
          <p:cNvPr id="1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36356" y="1068508"/>
            <a:ext cx="3443288" cy="2149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5AC6A22A-FFCE-1E9F-8F70-79271832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4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5D76E6B6-C809-2B6F-0594-DFEE9F945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9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618353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8353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18353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Design Methodology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01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4286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Research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Analyzing material properties and market requirements.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21431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02</a:t>
            </a:r>
            <a:endParaRPr lang="en-US" sz="2436" dirty="0"/>
          </a:p>
        </p:txBody>
      </p:sp>
      <p:sp>
        <p:nvSpPr>
          <p:cNvPr id="11" name="Shape 8"/>
          <p:cNvSpPr/>
          <p:nvPr/>
        </p:nvSpPr>
        <p:spPr>
          <a:xfrm>
            <a:off x="21431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31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Modeling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1431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Modeling volumetric flow and torque needs.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8576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03</a:t>
            </a:r>
            <a:endParaRPr lang="en-US" sz="2436" dirty="0"/>
          </a:p>
        </p:txBody>
      </p:sp>
      <p:sp>
        <p:nvSpPr>
          <p:cNvPr id="15" name="Shape 12"/>
          <p:cNvSpPr/>
          <p:nvPr/>
        </p:nvSpPr>
        <p:spPr>
          <a:xfrm>
            <a:off x="38576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576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CAD Design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8576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3D modeling of Auger, Shaft, Hopper in SolidWorks.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5721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04</a:t>
            </a:r>
            <a:endParaRPr lang="en-US" sz="2436" dirty="0"/>
          </a:p>
        </p:txBody>
      </p:sp>
      <p:sp>
        <p:nvSpPr>
          <p:cNvPr id="19" name="Shape 16"/>
          <p:cNvSpPr/>
          <p:nvPr/>
        </p:nvSpPr>
        <p:spPr>
          <a:xfrm>
            <a:off x="55721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21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Analysis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5721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FEA and DEM simulations for validation.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7286625" y="1216642"/>
            <a:ext cx="1428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7E22">
                    <a:alpha val="20000"/>
                  </a:srgbClr>
                </a:solidFill>
              </a:rPr>
              <a:t>05</a:t>
            </a:r>
            <a:endParaRPr lang="en-US" sz="2436" dirty="0"/>
          </a:p>
        </p:txBody>
      </p:sp>
      <p:sp>
        <p:nvSpPr>
          <p:cNvPr id="23" name="Shape 20"/>
          <p:cNvSpPr/>
          <p:nvPr/>
        </p:nvSpPr>
        <p:spPr>
          <a:xfrm>
            <a:off x="7286625" y="1539897"/>
            <a:ext cx="1428750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2C3E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86625" y="1539897"/>
            <a:ext cx="142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Control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7286625" y="1982809"/>
            <a:ext cx="14287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Control logic for Servo and Pneumatic integration.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75503"/>
            <a:ext cx="4143375" cy="62507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Mechanical Design: Auger &amp; Shaft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85775" y="1586331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E67E22"/>
                </a:solidFill>
              </a:rPr>
              <a:t>Auger Specifications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85775" y="1888155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Effective Length: 240 mm (Optimized for precision).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85775" y="2142455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Flight Configuration: 4 full flights for consistent dosing.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85775" y="2396756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Material: AISI 316L Stainless Steel (Food Grade).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85775" y="265105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Surface Finish: Electropolished to prevent material sticking.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85775" y="3048233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E67E22"/>
                </a:solidFill>
              </a:rPr>
              <a:t>Shaft Design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85775" y="3350056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Material: AISI 304/316L for high torsional strength.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85775" y="360435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Connection: J-slot and Cross-pin for secure torque transfer.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85775" y="385865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Maintenance: Tool-less disassembly for rapid cleaning.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85775" y="4112958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Alignment: Precision-machined for zero-vibration rotation.</a:t>
            </a:r>
            <a:endParaRPr lang="en-US" sz="834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663" y="485775"/>
            <a:ext cx="3228975" cy="18716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0663" y="2427089"/>
            <a:ext cx="32289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4495E"/>
                </a:solidFill>
              </a:rPr>
              <a:t>Figure 1: Auger Filler Assembly Diagram</a:t>
            </a:r>
            <a:endParaRPr lang="en-US" sz="621" dirty="0"/>
          </a:p>
        </p:txBody>
      </p:sp>
      <p:pic>
        <p:nvPicPr>
          <p:cNvPr id="16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15855" y="2686050"/>
            <a:ext cx="2998591" cy="18716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0663" y="4627364"/>
            <a:ext cx="32289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4495E"/>
                </a:solidFill>
              </a:rPr>
              <a:t>Figure 2: Dosing Screw Detail and Flow Path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611209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1209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11209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Volumetric &amp; Mass Calculations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85788" y="1509536"/>
            <a:ext cx="37218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Volume per Revolution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85788" y="1886369"/>
            <a:ext cx="3721894" cy="422765"/>
          </a:xfrm>
          <a:prstGeom prst="rect">
            <a:avLst/>
          </a:prstGeom>
          <a:solidFill>
            <a:srgbClr val="2C3E50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85788" y="1886369"/>
            <a:ext cx="28575" cy="42276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585788" y="1886369"/>
            <a:ext cx="3721894" cy="422765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V</a:t>
            </a:r>
            <a:r>
              <a:rPr lang="en-US" sz="1158" b="1" baseline="-40000" dirty="0">
                <a:solidFill>
                  <a:srgbClr val="2C3E50"/>
                </a:solidFill>
              </a:rPr>
              <a:t>rev</a:t>
            </a:r>
            <a:r>
              <a:rPr lang="en-US" sz="1397" b="1" dirty="0">
                <a:solidFill>
                  <a:srgbClr val="2C3E50"/>
                </a:solidFill>
              </a:rPr>
              <a:t> = π/4 (D</a:t>
            </a:r>
            <a:r>
              <a:rPr lang="en-US" sz="1158" b="1" baseline="30000" dirty="0">
                <a:solidFill>
                  <a:srgbClr val="2C3E50"/>
                </a:solidFill>
              </a:rPr>
              <a:t>2</a:t>
            </a:r>
            <a:r>
              <a:rPr lang="en-US" sz="1397" b="1" dirty="0">
                <a:solidFill>
                  <a:srgbClr val="2C3E50"/>
                </a:solidFill>
              </a:rPr>
              <a:t> - d</a:t>
            </a:r>
            <a:r>
              <a:rPr lang="en-US" sz="1158" b="1" baseline="30000" dirty="0">
                <a:solidFill>
                  <a:srgbClr val="2C3E50"/>
                </a:solidFill>
              </a:rPr>
              <a:t>2</a:t>
            </a:r>
            <a:r>
              <a:rPr lang="en-US" sz="1397" b="1" dirty="0">
                <a:solidFill>
                  <a:srgbClr val="2C3E50"/>
                </a:solidFill>
              </a:rPr>
              <a:t>) × P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597086" y="2325357"/>
            <a:ext cx="285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D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871538" y="2344315"/>
            <a:ext cx="1504624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Outer Diameter of Auger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97086" y="2491599"/>
            <a:ext cx="285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d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858850" y="2510557"/>
            <a:ext cx="13490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Inner (Shaft) Diameter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24942" y="2720247"/>
            <a:ext cx="285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P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858850" y="2720247"/>
            <a:ext cx="1457158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Pitch of the Auger Flight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67685" y="3133540"/>
            <a:ext cx="3739998" cy="23718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2C3E50"/>
                </a:solidFill>
              </a:rPr>
              <a:t>Determines the theoretical displacement per cycle.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836319" y="1509536"/>
            <a:ext cx="37218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Mass Calculation</a:t>
            </a:r>
            <a:endParaRPr lang="en-US" sz="1193" dirty="0"/>
          </a:p>
        </p:txBody>
      </p:sp>
      <p:sp>
        <p:nvSpPr>
          <p:cNvPr id="18" name="Shape 15"/>
          <p:cNvSpPr/>
          <p:nvPr/>
        </p:nvSpPr>
        <p:spPr>
          <a:xfrm>
            <a:off x="4836319" y="1886369"/>
            <a:ext cx="3721894" cy="391818"/>
          </a:xfrm>
          <a:prstGeom prst="rect">
            <a:avLst/>
          </a:prstGeom>
          <a:solidFill>
            <a:srgbClr val="2C3E50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836319" y="1886369"/>
            <a:ext cx="28575" cy="39181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7"/>
          <p:cNvSpPr/>
          <p:nvPr/>
        </p:nvSpPr>
        <p:spPr>
          <a:xfrm>
            <a:off x="4836319" y="1886369"/>
            <a:ext cx="3721894" cy="391818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Mass = V</a:t>
            </a:r>
            <a:r>
              <a:rPr lang="en-US" sz="1158" b="1" baseline="-40000" dirty="0">
                <a:solidFill>
                  <a:srgbClr val="2C3E50"/>
                </a:solidFill>
              </a:rPr>
              <a:t>rev</a:t>
            </a:r>
            <a:r>
              <a:rPr lang="en-US" sz="1397" b="1" dirty="0">
                <a:solidFill>
                  <a:srgbClr val="2C3E50"/>
                </a:solidFill>
              </a:rPr>
              <a:t> × ρ × η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4836319" y="2421062"/>
            <a:ext cx="285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ρ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5122069" y="2421062"/>
            <a:ext cx="17844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Material Density (1300 kg/m³)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836319" y="2653233"/>
            <a:ext cx="285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η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122069" y="2653233"/>
            <a:ext cx="178069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Volumetric Efficiency (≈ 0.95)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836319" y="2971130"/>
            <a:ext cx="3721894" cy="24824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2C3E50"/>
                </a:solidFill>
              </a:rPr>
              <a:t>Adjusted for material behavior and filling efficiency.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03ABCC39-A1FC-A64B-3CD8-D9E5CA57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4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ED4AD2BE-6674-D976-8760-FBC6D41FB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95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4143375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Torque &amp; Power Analysis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173780"/>
            <a:ext cx="1745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Torque Requirements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28625" y="1439884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Calculated Load Torque: ~0.25 N.m (at motor shaft).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1679897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Auger Operating Torque: 4.5 N.m (worst-case).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1919911"/>
            <a:ext cx="1724831" cy="162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Safety Factor: </a:t>
            </a:r>
            <a:r>
              <a:rPr lang="ar-YE" sz="834" dirty="0">
                <a:solidFill>
                  <a:srgbClr val="34495E"/>
                </a:solidFill>
              </a:rPr>
              <a:t>2.5</a:t>
            </a:r>
            <a:r>
              <a:rPr lang="en-US" sz="834" dirty="0">
                <a:solidFill>
                  <a:srgbClr val="34495E"/>
                </a:solidFill>
              </a:rPr>
              <a:t>x (ensures reliability).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2452818"/>
            <a:ext cx="3156313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System provides </a:t>
            </a:r>
            <a:r>
              <a:rPr lang="ar-YE" sz="885" b="1" dirty="0">
                <a:solidFill>
                  <a:srgbClr val="2C3E50"/>
                </a:solidFill>
              </a:rPr>
              <a:t> 19.98</a:t>
            </a:r>
            <a:r>
              <a:rPr lang="en-US" sz="885" b="1" dirty="0" err="1">
                <a:solidFill>
                  <a:srgbClr val="2C3E50"/>
                </a:solidFill>
              </a:rPr>
              <a:t>N.m</a:t>
            </a:r>
            <a:r>
              <a:rPr lang="en-US" sz="885" b="1" dirty="0">
                <a:solidFill>
                  <a:srgbClr val="2C3E50"/>
                </a:solidFill>
              </a:rPr>
              <a:t> at the Auger, exceeding requirements.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857750" y="414338"/>
            <a:ext cx="134790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Motor Selection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857750" y="680442"/>
            <a:ext cx="3857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Servo Motor: Panasonic MSMF042L1U1.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857750" y="920455"/>
            <a:ext cx="1075615" cy="162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Rated Torque: 1.2</a:t>
            </a:r>
            <a:r>
              <a:rPr lang="ar-YE" sz="834" dirty="0">
                <a:solidFill>
                  <a:srgbClr val="34495E"/>
                </a:solidFill>
              </a:rPr>
              <a:t>7 </a:t>
            </a:r>
            <a:r>
              <a:rPr lang="en-US" sz="834" dirty="0">
                <a:solidFill>
                  <a:srgbClr val="34495E"/>
                </a:solidFill>
              </a:rPr>
              <a:t>N.m.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857750" y="1289056"/>
            <a:ext cx="187124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Gearbox Specifications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857750" y="1555161"/>
            <a:ext cx="1947649" cy="162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Type &amp; Ratio: High-Precision Planetary,</a:t>
            </a:r>
            <a:r>
              <a:rPr lang="ar-YE" sz="834" dirty="0">
                <a:solidFill>
                  <a:srgbClr val="34495E"/>
                </a:solidFill>
              </a:rPr>
              <a:t> </a:t>
            </a:r>
            <a:r>
              <a:rPr lang="en-US" sz="834" dirty="0">
                <a:solidFill>
                  <a:srgbClr val="34495E"/>
                </a:solidFill>
              </a:rPr>
              <a:t>1:</a:t>
            </a:r>
            <a:r>
              <a:rPr lang="ar-YE" sz="834" dirty="0">
                <a:solidFill>
                  <a:srgbClr val="34495E"/>
                </a:solidFill>
              </a:rPr>
              <a:t>20</a:t>
            </a:r>
            <a:endParaRPr lang="en-US" sz="834" dirty="0"/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FA106165-A266-41EE-3DA8-99BB8EA0D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681" y="1919911"/>
            <a:ext cx="3388680" cy="3223589"/>
          </a:xfrm>
          <a:prstGeom prst="rect">
            <a:avLst/>
          </a:prstGeom>
        </p:spPr>
      </p:pic>
      <p:pic>
        <p:nvPicPr>
          <p:cNvPr id="16" name="صورة 15">
            <a:extLst>
              <a:ext uri="{FF2B5EF4-FFF2-40B4-BE49-F238E27FC236}">
                <a16:creationId xmlns:a16="http://schemas.microsoft.com/office/drawing/2014/main" id="{6022A2A0-A142-1ACC-6842-E6E896AD4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329" y="2700120"/>
            <a:ext cx="4302991" cy="2441248"/>
          </a:xfrm>
          <a:prstGeom prst="rect">
            <a:avLst/>
          </a:prstGeom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B1CEF13E-1430-A1B3-D21C-8AB25C700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912" y="242111"/>
            <a:ext cx="2139985" cy="13940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1B620567-979B-8493-8836-7C7E0545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17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C4BAF5E6-FE81-9B5E-75E3-27E22D5C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52B23F61-44E8-A502-C7E8-2975CF76A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054" y="4267561"/>
            <a:ext cx="2343083" cy="706731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E745A613-DDBC-C8E4-72A9-23F0F715A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96" y="4267561"/>
            <a:ext cx="1712458" cy="706732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88FA094C-6736-2D3B-179C-F09EAF11A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984" y="1806126"/>
            <a:ext cx="2344970" cy="153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2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ECF66CE6-DD39-79A1-5CAB-C9637252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4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B1F22D-B946-46E8-8BC0-4BF8C82B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"/>
            <a:ext cx="9144000" cy="510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7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3B6EA26-BAF8-D305-54CC-191054B28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CA58CBAB-10BE-95C0-3375-0C5B328DC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754" y="3379620"/>
            <a:ext cx="2285936" cy="14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1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Structural Analysis: ANSYS Results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57225" y="1255514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Max Von-Mises Stress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57225" y="1501973"/>
            <a:ext cx="36147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136.8 MPa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657225" y="1923455"/>
            <a:ext cx="3614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Significantly below the material yield strength of 206.8 MPa (AISI 304).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872038" y="1255514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Total Deformation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872038" y="1501973"/>
            <a:ext cx="36147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0.095 mm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4872038" y="1923455"/>
            <a:ext cx="3614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Minimal deflection ensures precise clearance between auger and tube.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57225" y="2684264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Safety Factor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57225" y="2930723"/>
            <a:ext cx="36147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1.51</a:t>
            </a:r>
            <a:endParaRPr lang="en-US" sz="1808" dirty="0"/>
          </a:p>
        </p:txBody>
      </p:sp>
      <p:sp>
        <p:nvSpPr>
          <p:cNvPr id="14" name="Text 11"/>
          <p:cNvSpPr/>
          <p:nvPr/>
        </p:nvSpPr>
        <p:spPr>
          <a:xfrm>
            <a:off x="657225" y="3352205"/>
            <a:ext cx="3614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Provides a robust margin for operational fatigue and peak loads.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872038" y="2684264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Analysis Type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872038" y="2930723"/>
            <a:ext cx="36147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Static Structural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4872038" y="3352205"/>
            <a:ext cx="3614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Simulated under maximum torque and material pressure conditions.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28625" y="4270177"/>
            <a:ext cx="8286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C3E50"/>
                </a:solidFill>
              </a:rPr>
              <a:t>Engineering Conclusion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428625" y="4572000"/>
            <a:ext cx="8286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The FEA results validate that the Auger design is structurally sound. All stresses remain within the elastic region of the material, and deformations are negligible, ensuring long-term reliability and dosing precision in industrial environments.</a:t>
            </a:r>
            <a:endParaRPr lang="en-US" sz="83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C86988A-1CE7-887E-0438-59CD9641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80"/>
          <a:stretch>
            <a:fillRect/>
          </a:stretch>
        </p:blipFill>
        <p:spPr>
          <a:xfrm>
            <a:off x="6096000" y="0"/>
            <a:ext cx="3048000" cy="2854102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74D00850-BA6A-DFE6-638A-FA8629384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922794"/>
            <a:ext cx="3048001" cy="2220706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2F3291EE-958E-CC27-5FC4-35592A89A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8897" y="0"/>
            <a:ext cx="2568693" cy="257175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EE799BAC-2581-8244-BAFB-B6C26B361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40" y="2640442"/>
            <a:ext cx="5327658" cy="2503058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4852303C-6645-9E1D-D509-19D1E638E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9797" y="0"/>
            <a:ext cx="3586203" cy="285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31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0D98757-666A-0559-102E-657D6DD3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1" y="118407"/>
            <a:ext cx="5227374" cy="2453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63597E-5A6B-1627-9488-8FAC5AFB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1" y="2801758"/>
            <a:ext cx="5163670" cy="6608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98B563-583F-B797-6E92-D018F64C7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6" y="3912235"/>
            <a:ext cx="5160137" cy="6478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5F1826-8894-CE25-FBE3-FD7CCEE93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373" y="124514"/>
            <a:ext cx="3916627" cy="25954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C62E05-E96E-EF74-AAF4-278D35DB4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373" y="2720004"/>
            <a:ext cx="3916627" cy="238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26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8F29F3-8B20-B6FD-96B9-B6BB9A3A6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9" y="94128"/>
            <a:ext cx="3545756" cy="35634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C17B43-5E8C-DB2B-10A6-AA07F94B3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433" y="146542"/>
            <a:ext cx="5249649" cy="545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A17BF3-46A1-F44A-3397-FFDD86EFA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432" y="786652"/>
            <a:ext cx="5249649" cy="582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517F86-1A8E-F790-F64E-649E45137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08" y="1463121"/>
            <a:ext cx="5236274" cy="545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75ABFA-C0CF-9891-FBF6-CF0B53E0B4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809" y="2103230"/>
            <a:ext cx="5236273" cy="5823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C5369B-EF0B-1F8F-7157-3D9016B81A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68" y="3281529"/>
            <a:ext cx="3677064" cy="18619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B7CACBB-51F2-20A0-BB23-985285B864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9809" y="2655028"/>
            <a:ext cx="5358857" cy="2488472"/>
          </a:xfrm>
          <a:prstGeom prst="rect">
            <a:avLst/>
          </a:prstGeom>
        </p:spPr>
      </p:pic>
      <p:pic>
        <p:nvPicPr>
          <p:cNvPr id="1026" name="Picture 18">
            <a:extLst>
              <a:ext uri="{FF2B5EF4-FFF2-40B4-BE49-F238E27FC236}">
                <a16:creationId xmlns:a16="http://schemas.microsoft.com/office/drawing/2014/main" id="{B584193D-D381-7DB2-5687-474CF0B46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99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420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099741F4-A65B-3579-78F8-E8232527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F5041B7F-0A6F-FBE6-CE53-41B0C3A025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04"/>
          <a:stretch>
            <a:fillRect/>
          </a:stretch>
        </p:blipFill>
        <p:spPr>
          <a:xfrm>
            <a:off x="2824154" y="797337"/>
            <a:ext cx="2625870" cy="402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64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BB33B9A1-CE59-76A1-1939-76DA807E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ECD7C497-14BC-0F77-0EDF-D51D7D366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30" y="1612794"/>
            <a:ext cx="3749293" cy="157655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88C765D7-9001-0D30-7134-F50781089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907" y="1612795"/>
            <a:ext cx="1857430" cy="2518858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62FA69A8-5C80-A5E3-5D21-D253C2F31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442" y="3343377"/>
            <a:ext cx="1984023" cy="14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02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5434A71-CF8E-75FD-506D-AA853F0FA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3999" cy="5143499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C368219-E0E5-227B-B937-3F813A206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06" y="2464032"/>
            <a:ext cx="4306093" cy="101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24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Integrated System Analysis: SolidWorks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57225" y="1398389"/>
            <a:ext cx="3543300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Assembly Analysis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657225" y="1869877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Verified torque transfer through the J-slot and Cross-pin connection.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57225" y="2342759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Max Assembly Stress: 127.3 MPa (within safe limits).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657225" y="2632779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Max Displacement: 0.0032 mm (ensures high rigidity).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57225" y="2922798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Confirmed no interference between rotating components during operation.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943475" y="1398389"/>
            <a:ext cx="3543300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Cross-Validation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943475" y="1869877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Comparative study between ANSYS and SolidWorks Simulation results.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947047" y="2382050"/>
            <a:ext cx="1373860" cy="285750"/>
          </a:xfrm>
          <a:prstGeom prst="rect">
            <a:avLst/>
          </a:prstGeom>
          <a:solidFill>
            <a:srgbClr val="2C3E50">
              <a:alpha val="5000"/>
            </a:srgbClr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7047" y="2382050"/>
            <a:ext cx="1373860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Metric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6320907" y="2382050"/>
            <a:ext cx="1027947" cy="285750"/>
          </a:xfrm>
          <a:prstGeom prst="rect">
            <a:avLst/>
          </a:prstGeom>
          <a:solidFill>
            <a:srgbClr val="2C3E50">
              <a:alpha val="5000"/>
            </a:srgbClr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0907" y="2382050"/>
            <a:ext cx="102794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ANSYS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7348854" y="2382050"/>
            <a:ext cx="1134349" cy="285750"/>
          </a:xfrm>
          <a:prstGeom prst="rect">
            <a:avLst/>
          </a:prstGeom>
          <a:solidFill>
            <a:srgbClr val="2C3E50">
              <a:alpha val="5000"/>
            </a:srgbClr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48854" y="2382050"/>
            <a:ext cx="1134349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SolidWorks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947047" y="2660656"/>
            <a:ext cx="137832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Max Stress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325372" y="2660656"/>
            <a:ext cx="103132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136.8 MPa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7356695" y="2660656"/>
            <a:ext cx="1126508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127.3 MPa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947047" y="2946406"/>
            <a:ext cx="137832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Safety Factor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325372" y="2946406"/>
            <a:ext cx="103132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1.51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7356695" y="2946406"/>
            <a:ext cx="1126508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1.62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947047" y="3232156"/>
            <a:ext cx="137832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Max Deflection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325372" y="3232156"/>
            <a:ext cx="103132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0.095 mm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7356695" y="3232156"/>
            <a:ext cx="1126508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0.0032 mm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4943475" y="3664353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High correlation between solvers confirms model reliability.</a:t>
            </a:r>
            <a:endParaRPr lang="en-US" sz="83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42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57150" cy="4420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9144000" cy="4420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Operational Simulation &amp; Motion Analysis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370707"/>
            <a:ext cx="37277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Simulation Objectives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672530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Validation of dual-direction rotation (Auger vs. Agitator blades).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941119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Analysis of material flow behavior and volumetric consistency.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28625" y="2209707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Verification of dynamic stability under high-speed operation.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478295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Optimization of dosing cycle timing and material discharge.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8625" y="2875471"/>
            <a:ext cx="37277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Key Findings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3177294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Zero interference between rotating components.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28625" y="3445883"/>
            <a:ext cx="372772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Uniform material distribution within the dosing chamber.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292724" y="1156395"/>
            <a:ext cx="4286250" cy="2428875"/>
          </a:xfrm>
          <a:prstGeom prst="rect">
            <a:avLst/>
          </a:prstGeom>
          <a:solidFill>
            <a:srgbClr val="E67E22">
              <a:alpha val="5000"/>
            </a:srgbClr>
          </a:solidFill>
          <a:ln w="27432">
            <a:solidFill>
              <a:srgbClr val="E67E22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537788" y="2150269"/>
            <a:ext cx="37960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[ INSERT MOTION SIMULATION VIDEO HERE ]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106777" y="2455664"/>
            <a:ext cx="26581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34495E"/>
                </a:solidFill>
              </a:rPr>
              <a:t>Place the video showing the dual-direction rotation here.</a:t>
            </a:r>
            <a:endParaRPr lang="en-US" sz="727" dirty="0"/>
          </a:p>
        </p:txBody>
      </p:sp>
      <p:pic>
        <p:nvPicPr>
          <p:cNvPr id="19" name="صورة 18">
            <a:extLst>
              <a:ext uri="{FF2B5EF4-FFF2-40B4-BE49-F238E27FC236}">
                <a16:creationId xmlns:a16="http://schemas.microsoft.com/office/drawing/2014/main" id="{24D71FAB-3E12-F028-CC6C-C32C80575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7651" y="3628746"/>
            <a:ext cx="2623288" cy="1514754"/>
          </a:xfrm>
          <a:prstGeom prst="rect">
            <a:avLst/>
          </a:prstGeom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D6C11618-D8BC-099C-FDC6-09D3ED426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53660"/>
            <a:ext cx="4286251" cy="1489840"/>
          </a:xfrm>
          <a:prstGeom prst="rect">
            <a:avLst/>
          </a:prstGeom>
        </p:spPr>
      </p:pic>
      <p:pic>
        <p:nvPicPr>
          <p:cNvPr id="18" name="Assem123_motion_V2.mp4">
            <a:hlinkClick r:id="" action="ppaction://media"/>
            <a:extLst>
              <a:ext uri="{FF2B5EF4-FFF2-40B4-BE49-F238E27FC236}">
                <a16:creationId xmlns:a16="http://schemas.microsoft.com/office/drawing/2014/main" id="{4356E0D4-0128-4C6D-E01A-637AAD39CCB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86251" y="1025542"/>
            <a:ext cx="4629422" cy="2559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10A53A94-6615-7E5A-3539-D557C380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3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3F0920A9-71D5-417C-EADD-430CF3793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53" y="3687682"/>
            <a:ext cx="2522483" cy="137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64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01B33C94-31B6-04CC-2678-BB876F5C4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21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47722A6-3D23-A2D2-1B65-267D4B48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23" r="47681" b="42461"/>
          <a:stretch>
            <a:fillRect/>
          </a:stretch>
        </p:blipFill>
        <p:spPr>
          <a:xfrm>
            <a:off x="0" y="933246"/>
            <a:ext cx="4784019" cy="2166453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D9D3AAAB-575B-6A19-39B4-B8F014289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12" y="3099699"/>
            <a:ext cx="2683762" cy="181307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9A9EDCEE-1F5F-2D34-EC3E-BAC221279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372" y="3099700"/>
            <a:ext cx="2727255" cy="1813072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53D49714-6C69-2CE5-0D22-88F8C5FD3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326" y="3099699"/>
            <a:ext cx="2793400" cy="1813072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55F66EEB-BAE6-8811-0682-8A05FD154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-1" r="45105" b="80996"/>
          <a:stretch>
            <a:fillRect/>
          </a:stretch>
        </p:blipFill>
        <p:spPr>
          <a:xfrm>
            <a:off x="1" y="0"/>
            <a:ext cx="5019596" cy="10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87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832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Bill of Materials (BOM) Summary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32197" y="1030486"/>
            <a:ext cx="1411644" cy="396478"/>
          </a:xfrm>
          <a:prstGeom prst="rect">
            <a:avLst/>
          </a:prstGeom>
          <a:solidFill>
            <a:srgbClr val="2C3E50"/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2197" y="1030486"/>
            <a:ext cx="1411644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Category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1843841" y="1030486"/>
            <a:ext cx="1848836" cy="396478"/>
          </a:xfrm>
          <a:prstGeom prst="rect">
            <a:avLst/>
          </a:prstGeom>
          <a:solidFill>
            <a:srgbClr val="2C3E50"/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43841" y="1030486"/>
            <a:ext cx="1848836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Component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3692677" y="1030486"/>
            <a:ext cx="4297691" cy="396478"/>
          </a:xfrm>
          <a:prstGeom prst="rect">
            <a:avLst/>
          </a:prstGeom>
          <a:solidFill>
            <a:srgbClr val="2C3E50"/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92677" y="1030486"/>
            <a:ext cx="4297691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Specification / Material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7990368" y="1030486"/>
            <a:ext cx="721435" cy="396478"/>
          </a:xfrm>
          <a:prstGeom prst="rect">
            <a:avLst/>
          </a:prstGeom>
          <a:solidFill>
            <a:srgbClr val="2C3E50"/>
          </a:solidFill>
          <a:ln w="9144">
            <a:solidFill>
              <a:srgbClr val="2C3E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90368" y="1030486"/>
            <a:ext cx="721435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Qty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432197" y="1419820"/>
            <a:ext cx="8279606" cy="333970"/>
          </a:xfrm>
          <a:prstGeom prst="rect">
            <a:avLst/>
          </a:prstGeom>
          <a:solidFill>
            <a:srgbClr val="E67E22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2197" y="1419820"/>
            <a:ext cx="8279606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4495E"/>
                </a:solidFill>
              </a:rPr>
              <a:t>Mechanical Components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32197" y="1753791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Dosing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1845711" y="1753791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Auger Screw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3696974" y="1753791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AISI 316L Stainless Steel (Food Grade)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8000302" y="1753791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32197" y="2087761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Structure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1845711" y="2087761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Main Shaft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3696974" y="2087761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AISI 304/316L - Precision Machined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8000302" y="2087761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32197" y="2421731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Storage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1845711" y="2421731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Hopper Assembly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3696974" y="2421731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AISI 316L - 60° Wall Angle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8000302" y="2421731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432197" y="2755702"/>
            <a:ext cx="8279606" cy="333970"/>
          </a:xfrm>
          <a:prstGeom prst="rect">
            <a:avLst/>
          </a:prstGeom>
          <a:solidFill>
            <a:srgbClr val="E67E22">
              <a:alpha val="1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32197" y="2755702"/>
            <a:ext cx="8279606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4495E"/>
                </a:solidFill>
              </a:rPr>
              <a:t>Electrical &amp; Control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32197" y="3089672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Actuation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1845711" y="3089672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Servo Motor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3696974" y="3089672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Panasonic MSMF042L1U1 (400W, 1.27 N.m)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8000302" y="3089672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32197" y="3423642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Transmission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1845711" y="3423642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Planetary Gearbox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3696974" y="3420517"/>
            <a:ext cx="4303328" cy="34022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Reduction Ratio 1:</a:t>
            </a:r>
            <a:r>
              <a:rPr lang="ar-YE" sz="834" dirty="0">
                <a:solidFill>
                  <a:srgbClr val="34495E"/>
                </a:solidFill>
              </a:rPr>
              <a:t>20</a:t>
            </a:r>
            <a:r>
              <a:rPr lang="en-US" sz="834" dirty="0">
                <a:solidFill>
                  <a:srgbClr val="34495E"/>
                </a:solidFill>
              </a:rPr>
              <a:t> - High Precision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8000302" y="3423642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432197" y="3757613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Control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1845711" y="3757613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Microcontroller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3696974" y="3757613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ESP32 DevKit V1 (Dual-Core)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8000302" y="3757613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1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432197" y="4091583"/>
            <a:ext cx="141351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Switching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1845711" y="4091583"/>
            <a:ext cx="1851264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Solid State Relay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3696974" y="4091583"/>
            <a:ext cx="4303328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SSR-40DA (40A, 3-32VDC Control)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8000302" y="4091583"/>
            <a:ext cx="711501" cy="33397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4495E"/>
                </a:solidFill>
              </a:rPr>
              <a:t>2</a:t>
            </a:r>
            <a:endParaRPr lang="en-US" sz="83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76F5974-5DFD-398E-AA7F-55EB7F7B1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14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DF67C00E-60EC-AC76-597C-B50C95B4C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53792307-A6FD-F666-96FA-773818212938}"/>
              </a:ext>
            </a:extLst>
          </p:cNvPr>
          <p:cNvSpPr txBox="1"/>
          <p:nvPr/>
        </p:nvSpPr>
        <p:spPr>
          <a:xfrm>
            <a:off x="147341" y="111865"/>
            <a:ext cx="4693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b="1" i="0" dirty="0">
                <a:effectLst/>
                <a:latin typeface="Arial" panose="020B0604020202020204" pitchFamily="34" charset="0"/>
              </a:rPr>
              <a:t>Assess risks and limitations</a:t>
            </a:r>
            <a:endParaRPr lang="ar-YE" b="1" dirty="0"/>
          </a:p>
        </p:txBody>
      </p:sp>
    </p:spTree>
    <p:extLst>
      <p:ext uri="{BB962C8B-B14F-4D97-AF65-F5344CB8AC3E}">
        <p14:creationId xmlns:p14="http://schemas.microsoft.com/office/powerpoint/2010/main" val="1945584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1BF4BB7-B0D4-A964-6426-C9B29BD23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1267379C-480F-5563-1ADF-4D29E9AE186B}"/>
              </a:ext>
            </a:extLst>
          </p:cNvPr>
          <p:cNvSpPr txBox="1"/>
          <p:nvPr/>
        </p:nvSpPr>
        <p:spPr>
          <a:xfrm>
            <a:off x="154032" y="81545"/>
            <a:ext cx="6144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b="1" i="0" dirty="0">
                <a:effectLst/>
                <a:latin typeface="Arial" panose="020B0604020202020204" pitchFamily="34" charset="0"/>
              </a:rPr>
              <a:t>Final </a:t>
            </a:r>
            <a:r>
              <a:rPr lang="ar-YE" b="1" i="0" dirty="0" err="1">
                <a:effectLst/>
                <a:latin typeface="Arial" panose="020B0604020202020204" pitchFamily="34" charset="0"/>
              </a:rPr>
              <a:t>results</a:t>
            </a:r>
            <a:endParaRPr lang="ar-YE" b="1" dirty="0"/>
          </a:p>
        </p:txBody>
      </p:sp>
    </p:spTree>
    <p:extLst>
      <p:ext uri="{BB962C8B-B14F-4D97-AF65-F5344CB8AC3E}">
        <p14:creationId xmlns:p14="http://schemas.microsoft.com/office/powerpoint/2010/main" val="1834704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1253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3E50"/>
                </a:solidFill>
              </a:rPr>
              <a:t>Conclusion &amp; Future Work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169789"/>
            <a:ext cx="207936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Project Achievements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1596628"/>
            <a:ext cx="39290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Comprehensive structural validation using FEA (ANSYS &amp; SolidWorks).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2150938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Optimized Auger design for high-density corrosive materials.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499531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Robust control architecture based on ESP32 and FreeRTOS.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848124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Precise torque and volumetric flow mathematical modeling.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786313" y="1169789"/>
            <a:ext cx="158541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7E22"/>
                </a:solidFill>
              </a:rPr>
              <a:t>Future Roadmap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786313" y="1596628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Physical prototyping and assembly of the VFFS unit.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86313" y="1945221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Real-world material testing for dosing accuracy validation.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786313" y="2293813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Development of a custom HMI for operational control.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786313" y="2642406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4495E"/>
                </a:solidFill>
              </a:rPr>
              <a:t>Integration of IoT features for remote monitoring.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28625" y="4550569"/>
            <a:ext cx="8286750" cy="5929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4550569"/>
            <a:ext cx="828675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4793456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3E50"/>
                </a:solidFill>
              </a:rPr>
              <a:t>Thank You for Your Attention</a:t>
            </a:r>
            <a:endParaRPr lang="en-US" sz="1808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BD8C2EC5-A66A-3B26-F217-C2657BEBF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869</Words>
  <Application>Microsoft Office PowerPoint</Application>
  <PresentationFormat>عرض على الشاشة (16:9)</PresentationFormat>
  <Paragraphs>178</Paragraphs>
  <Slides>33</Slides>
  <Notes>11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33</vt:i4>
      </vt:variant>
    </vt:vector>
  </HeadingPairs>
  <TitlesOfParts>
    <vt:vector size="34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hassan ghaleb</cp:lastModifiedBy>
  <cp:revision>10</cp:revision>
  <dcterms:created xsi:type="dcterms:W3CDTF">2026-02-09T00:39:37Z</dcterms:created>
  <dcterms:modified xsi:type="dcterms:W3CDTF">2026-02-15T21:26:12Z</dcterms:modified>
</cp:coreProperties>
</file>