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Sorts Mill Goudy" panose="02000503000000000000" pitchFamily="2" charset="0"/>
      <p:regular r:id="rId21"/>
    </p:embeddedFont>
  </p:embeddedFontLst>
  <p:defaultTextStyle>
    <a:defPPr>
      <a:defRPr lang="ar-Y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2-09T19:56:48.88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32155 12171 0 0,'-15'0'0'0,"15"0"0"0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85BBBF2-363C-8145-A73D-DEFAC62048A2}" type="datetimeFigureOut">
              <a:rPr lang="ar-YE" smtClean="0"/>
              <a:t>22/08/1447</a:t>
            </a:fld>
            <a:endParaRPr lang="ar-YE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Y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AEEC88E-8D0A-7A4F-98B6-FB3437011FFC}" type="slidenum">
              <a:rPr lang="ar-YE" smtClean="0"/>
              <a:t>‹#›</a:t>
            </a:fld>
            <a:endParaRPr lang="ar-YE"/>
          </a:p>
        </p:txBody>
      </p:sp>
    </p:spTree>
    <p:extLst>
      <p:ext uri="{BB962C8B-B14F-4D97-AF65-F5344CB8AC3E}">
        <p14:creationId xmlns:p14="http://schemas.microsoft.com/office/powerpoint/2010/main" val="89001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738813" y="1747838"/>
            <a:ext cx="714375" cy="571500"/>
          </a:xfrm>
          <a:custGeom>
            <a:avLst/>
            <a:gdLst/>
            <a:ahLst/>
            <a:cxnLst/>
            <a:rect l="l" t="t" r="r" b="b"/>
            <a:pathLst>
              <a:path w="714375" h="571500">
                <a:moveTo>
                  <a:pt x="464232" y="234962"/>
                </a:moveTo>
                <a:cubicBezTo>
                  <a:pt x="477850" y="231279"/>
                  <a:pt x="492137" y="237753"/>
                  <a:pt x="498277" y="250366"/>
                </a:cubicBezTo>
                <a:lnTo>
                  <a:pt x="519038" y="292336"/>
                </a:lnTo>
                <a:cubicBezTo>
                  <a:pt x="530535" y="293898"/>
                  <a:pt x="541809" y="297024"/>
                  <a:pt x="552413" y="301377"/>
                </a:cubicBezTo>
                <a:lnTo>
                  <a:pt x="591480" y="275369"/>
                </a:lnTo>
                <a:cubicBezTo>
                  <a:pt x="603200" y="267556"/>
                  <a:pt x="618716" y="269118"/>
                  <a:pt x="628650" y="279053"/>
                </a:cubicBezTo>
                <a:lnTo>
                  <a:pt x="650081" y="300484"/>
                </a:lnTo>
                <a:cubicBezTo>
                  <a:pt x="660016" y="310418"/>
                  <a:pt x="661578" y="326045"/>
                  <a:pt x="653765" y="337654"/>
                </a:cubicBezTo>
                <a:lnTo>
                  <a:pt x="627757" y="376610"/>
                </a:lnTo>
                <a:cubicBezTo>
                  <a:pt x="629878" y="381856"/>
                  <a:pt x="631775" y="387325"/>
                  <a:pt x="633338" y="393018"/>
                </a:cubicBezTo>
                <a:cubicBezTo>
                  <a:pt x="634901" y="398711"/>
                  <a:pt x="635905" y="404292"/>
                  <a:pt x="636687" y="409984"/>
                </a:cubicBezTo>
                <a:lnTo>
                  <a:pt x="678768" y="430746"/>
                </a:lnTo>
                <a:cubicBezTo>
                  <a:pt x="691381" y="436997"/>
                  <a:pt x="697855" y="451284"/>
                  <a:pt x="694172" y="464790"/>
                </a:cubicBezTo>
                <a:lnTo>
                  <a:pt x="686358" y="494035"/>
                </a:lnTo>
                <a:cubicBezTo>
                  <a:pt x="682675" y="507541"/>
                  <a:pt x="670061" y="516694"/>
                  <a:pt x="655997" y="515801"/>
                </a:cubicBezTo>
                <a:lnTo>
                  <a:pt x="609116" y="512787"/>
                </a:lnTo>
                <a:cubicBezTo>
                  <a:pt x="602084" y="521829"/>
                  <a:pt x="593936" y="530200"/>
                  <a:pt x="584671" y="537344"/>
                </a:cubicBezTo>
                <a:lnTo>
                  <a:pt x="587685" y="584113"/>
                </a:lnTo>
                <a:cubicBezTo>
                  <a:pt x="588578" y="598177"/>
                  <a:pt x="579425" y="610902"/>
                  <a:pt x="565919" y="614474"/>
                </a:cubicBezTo>
                <a:lnTo>
                  <a:pt x="536674" y="622288"/>
                </a:lnTo>
                <a:cubicBezTo>
                  <a:pt x="523056" y="625971"/>
                  <a:pt x="508881" y="619497"/>
                  <a:pt x="502630" y="606884"/>
                </a:cubicBezTo>
                <a:lnTo>
                  <a:pt x="481868" y="564914"/>
                </a:lnTo>
                <a:cubicBezTo>
                  <a:pt x="470371" y="563352"/>
                  <a:pt x="459098" y="560226"/>
                  <a:pt x="448494" y="555873"/>
                </a:cubicBezTo>
                <a:lnTo>
                  <a:pt x="409426" y="581881"/>
                </a:lnTo>
                <a:cubicBezTo>
                  <a:pt x="397706" y="589694"/>
                  <a:pt x="382191" y="588132"/>
                  <a:pt x="372256" y="578197"/>
                </a:cubicBezTo>
                <a:lnTo>
                  <a:pt x="350825" y="556766"/>
                </a:lnTo>
                <a:cubicBezTo>
                  <a:pt x="340891" y="546832"/>
                  <a:pt x="339328" y="531316"/>
                  <a:pt x="347142" y="519596"/>
                </a:cubicBezTo>
                <a:lnTo>
                  <a:pt x="373149" y="480529"/>
                </a:lnTo>
                <a:cubicBezTo>
                  <a:pt x="371029" y="475283"/>
                  <a:pt x="369131" y="469813"/>
                  <a:pt x="367568" y="464121"/>
                </a:cubicBezTo>
                <a:cubicBezTo>
                  <a:pt x="366006" y="458428"/>
                  <a:pt x="365001" y="452735"/>
                  <a:pt x="364220" y="447154"/>
                </a:cubicBezTo>
                <a:lnTo>
                  <a:pt x="322138" y="426393"/>
                </a:lnTo>
                <a:cubicBezTo>
                  <a:pt x="309525" y="420142"/>
                  <a:pt x="303163" y="405854"/>
                  <a:pt x="306735" y="392348"/>
                </a:cubicBezTo>
                <a:lnTo>
                  <a:pt x="314548" y="363103"/>
                </a:lnTo>
                <a:cubicBezTo>
                  <a:pt x="318232" y="349597"/>
                  <a:pt x="330845" y="340444"/>
                  <a:pt x="344909" y="341337"/>
                </a:cubicBezTo>
                <a:lnTo>
                  <a:pt x="391678" y="344351"/>
                </a:lnTo>
                <a:cubicBezTo>
                  <a:pt x="398711" y="335310"/>
                  <a:pt x="406859" y="326938"/>
                  <a:pt x="416123" y="319794"/>
                </a:cubicBezTo>
                <a:lnTo>
                  <a:pt x="413110" y="273137"/>
                </a:lnTo>
                <a:cubicBezTo>
                  <a:pt x="412217" y="259073"/>
                  <a:pt x="421370" y="246348"/>
                  <a:pt x="434876" y="242776"/>
                </a:cubicBezTo>
                <a:lnTo>
                  <a:pt x="464121" y="234962"/>
                </a:lnTo>
                <a:close/>
                <a:moveTo>
                  <a:pt x="500509" y="379512"/>
                </a:moveTo>
                <a:cubicBezTo>
                  <a:pt x="473403" y="379543"/>
                  <a:pt x="451421" y="401574"/>
                  <a:pt x="451452" y="428681"/>
                </a:cubicBezTo>
                <a:cubicBezTo>
                  <a:pt x="451482" y="455787"/>
                  <a:pt x="473514" y="477769"/>
                  <a:pt x="500621" y="477738"/>
                </a:cubicBezTo>
                <a:cubicBezTo>
                  <a:pt x="527727" y="477707"/>
                  <a:pt x="549709" y="455676"/>
                  <a:pt x="549678" y="428569"/>
                </a:cubicBezTo>
                <a:cubicBezTo>
                  <a:pt x="549647" y="401463"/>
                  <a:pt x="527615" y="379481"/>
                  <a:pt x="500509" y="379512"/>
                </a:cubicBezTo>
                <a:close/>
                <a:moveTo>
                  <a:pt x="251036" y="-50788"/>
                </a:moveTo>
                <a:lnTo>
                  <a:pt x="280281" y="-42974"/>
                </a:lnTo>
                <a:cubicBezTo>
                  <a:pt x="293787" y="-39291"/>
                  <a:pt x="302940" y="-26566"/>
                  <a:pt x="302047" y="-12613"/>
                </a:cubicBezTo>
                <a:lnTo>
                  <a:pt x="299033" y="34044"/>
                </a:lnTo>
                <a:cubicBezTo>
                  <a:pt x="308297" y="41188"/>
                  <a:pt x="316446" y="49448"/>
                  <a:pt x="323478" y="58601"/>
                </a:cubicBezTo>
                <a:lnTo>
                  <a:pt x="370359" y="55587"/>
                </a:lnTo>
                <a:cubicBezTo>
                  <a:pt x="384311" y="54694"/>
                  <a:pt x="397036" y="63847"/>
                  <a:pt x="400720" y="77353"/>
                </a:cubicBezTo>
                <a:lnTo>
                  <a:pt x="408533" y="106598"/>
                </a:lnTo>
                <a:cubicBezTo>
                  <a:pt x="412105" y="120104"/>
                  <a:pt x="405743" y="134392"/>
                  <a:pt x="393129" y="140643"/>
                </a:cubicBezTo>
                <a:lnTo>
                  <a:pt x="351048" y="161404"/>
                </a:lnTo>
                <a:cubicBezTo>
                  <a:pt x="350267" y="167097"/>
                  <a:pt x="349151" y="172789"/>
                  <a:pt x="347700" y="178371"/>
                </a:cubicBezTo>
                <a:cubicBezTo>
                  <a:pt x="346249" y="183952"/>
                  <a:pt x="344239" y="189533"/>
                  <a:pt x="342119" y="194779"/>
                </a:cubicBezTo>
                <a:lnTo>
                  <a:pt x="368126" y="233846"/>
                </a:lnTo>
                <a:cubicBezTo>
                  <a:pt x="375940" y="245566"/>
                  <a:pt x="374377" y="261082"/>
                  <a:pt x="364443" y="271016"/>
                </a:cubicBezTo>
                <a:lnTo>
                  <a:pt x="343012" y="292447"/>
                </a:lnTo>
                <a:cubicBezTo>
                  <a:pt x="333077" y="302382"/>
                  <a:pt x="317562" y="303944"/>
                  <a:pt x="305842" y="296131"/>
                </a:cubicBezTo>
                <a:lnTo>
                  <a:pt x="266774" y="270123"/>
                </a:lnTo>
                <a:cubicBezTo>
                  <a:pt x="256170" y="274476"/>
                  <a:pt x="244897" y="277602"/>
                  <a:pt x="233400" y="279164"/>
                </a:cubicBezTo>
                <a:lnTo>
                  <a:pt x="212638" y="321134"/>
                </a:lnTo>
                <a:cubicBezTo>
                  <a:pt x="206387" y="333747"/>
                  <a:pt x="192100" y="340109"/>
                  <a:pt x="178594" y="336538"/>
                </a:cubicBezTo>
                <a:lnTo>
                  <a:pt x="149349" y="328724"/>
                </a:lnTo>
                <a:cubicBezTo>
                  <a:pt x="135731" y="325041"/>
                  <a:pt x="126690" y="312316"/>
                  <a:pt x="127583" y="298363"/>
                </a:cubicBezTo>
                <a:lnTo>
                  <a:pt x="130597" y="251594"/>
                </a:lnTo>
                <a:cubicBezTo>
                  <a:pt x="121332" y="244450"/>
                  <a:pt x="113184" y="236190"/>
                  <a:pt x="106152" y="227037"/>
                </a:cubicBezTo>
                <a:lnTo>
                  <a:pt x="59271" y="230051"/>
                </a:lnTo>
                <a:cubicBezTo>
                  <a:pt x="45318" y="230944"/>
                  <a:pt x="32593" y="221791"/>
                  <a:pt x="28910" y="208285"/>
                </a:cubicBezTo>
                <a:lnTo>
                  <a:pt x="21096" y="179040"/>
                </a:lnTo>
                <a:cubicBezTo>
                  <a:pt x="17525" y="165534"/>
                  <a:pt x="23887" y="151247"/>
                  <a:pt x="36500" y="144996"/>
                </a:cubicBezTo>
                <a:lnTo>
                  <a:pt x="78581" y="124234"/>
                </a:lnTo>
                <a:cubicBezTo>
                  <a:pt x="79363" y="118542"/>
                  <a:pt x="80479" y="112961"/>
                  <a:pt x="81930" y="107268"/>
                </a:cubicBezTo>
                <a:cubicBezTo>
                  <a:pt x="83493" y="101575"/>
                  <a:pt x="85279" y="96106"/>
                  <a:pt x="87511" y="90860"/>
                </a:cubicBezTo>
                <a:lnTo>
                  <a:pt x="61503" y="51904"/>
                </a:lnTo>
                <a:cubicBezTo>
                  <a:pt x="53690" y="40184"/>
                  <a:pt x="55252" y="24668"/>
                  <a:pt x="65187" y="14734"/>
                </a:cubicBezTo>
                <a:lnTo>
                  <a:pt x="86618" y="-6697"/>
                </a:lnTo>
                <a:cubicBezTo>
                  <a:pt x="96552" y="-16632"/>
                  <a:pt x="112068" y="-18194"/>
                  <a:pt x="123788" y="-10381"/>
                </a:cubicBezTo>
                <a:lnTo>
                  <a:pt x="162855" y="15627"/>
                </a:lnTo>
                <a:cubicBezTo>
                  <a:pt x="173459" y="11274"/>
                  <a:pt x="184733" y="8148"/>
                  <a:pt x="196230" y="6586"/>
                </a:cubicBezTo>
                <a:lnTo>
                  <a:pt x="216991" y="-35384"/>
                </a:lnTo>
                <a:cubicBezTo>
                  <a:pt x="223242" y="-47997"/>
                  <a:pt x="237418" y="-54359"/>
                  <a:pt x="251036" y="-50788"/>
                </a:cubicBezTo>
                <a:close/>
                <a:moveTo>
                  <a:pt x="214759" y="93762"/>
                </a:moveTo>
                <a:cubicBezTo>
                  <a:pt x="187653" y="93762"/>
                  <a:pt x="165646" y="115769"/>
                  <a:pt x="165646" y="142875"/>
                </a:cubicBezTo>
                <a:cubicBezTo>
                  <a:pt x="165646" y="169981"/>
                  <a:pt x="187653" y="191988"/>
                  <a:pt x="214759" y="191988"/>
                </a:cubicBezTo>
                <a:cubicBezTo>
                  <a:pt x="241865" y="191988"/>
                  <a:pt x="263872" y="169981"/>
                  <a:pt x="263872" y="142875"/>
                </a:cubicBezTo>
                <a:cubicBezTo>
                  <a:pt x="263872" y="115769"/>
                  <a:pt x="241865" y="93762"/>
                  <a:pt x="214759" y="9376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143970" y="2776538"/>
            <a:ext cx="3905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 وتحليل نظام التعبئة باللولب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29559" y="3433763"/>
            <a:ext cx="3533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Auger Filler VFFS Machine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40814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225528" y="4424363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Engineering Design &amp; Analysis Report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0546" y="4843463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Hassan Auger Filler VFFS Presentation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-33337" y="6362700"/>
            <a:ext cx="1225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53900" y="0"/>
            <a:ext cx="38100" cy="6858000"/>
          </a:xfrm>
          <a:custGeom>
            <a:avLst/>
            <a:gdLst/>
            <a:ahLst/>
            <a:cxnLst/>
            <a:rect l="l" t="t" r="r" b="b"/>
            <a:pathLst>
              <a:path w="38100" h="6858000">
                <a:moveTo>
                  <a:pt x="0" y="0"/>
                </a:moveTo>
                <a:lnTo>
                  <a:pt x="38100" y="0"/>
                </a:lnTo>
                <a:lnTo>
                  <a:pt x="381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26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المحتويات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8939" y="13716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26985" y="13716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نظرة عامة على المشروع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9532" y="13716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90702" y="13716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ar-YE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</a:t>
            </a:r>
            <a:r>
              <a:rPr lang="en-US" sz="13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تعريف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المشكلة والأهداف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66736" y="1790700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51988" y="17907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مراجعة الأدبيات والبحث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686" y="17907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13584" y="179070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بنية النظام والتصميم المفاهيمي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78642" y="22098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46419" y="220980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 اللولب (Auger Screw)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4025" y="22098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8736" y="22098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 العمود والصحن الدوار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8281" y="26289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89679" y="26289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الحسابات الحجمية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3579" y="26289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07830" y="26289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حسابات القوى والعزوم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51109" y="3048000"/>
            <a:ext cx="23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42736" y="30480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اختيار المحرك والجيربوكس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63183" y="3048000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28790" y="304800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التحليل الإنشائي (FEA)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14199" y="346710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11.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34179" y="346710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المحاكاة الحركية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74791" y="34671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0848" y="346710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النتائج والاستنتاجات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713369" y="6562725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10716" y="43711"/>
                </a:moveTo>
                <a:lnTo>
                  <a:pt x="57418" y="62932"/>
                </a:lnTo>
                <a:cubicBezTo>
                  <a:pt x="59606" y="63825"/>
                  <a:pt x="61927" y="64294"/>
                  <a:pt x="64294" y="64294"/>
                </a:cubicBezTo>
                <a:cubicBezTo>
                  <a:pt x="66660" y="64294"/>
                  <a:pt x="68982" y="63825"/>
                  <a:pt x="71170" y="62932"/>
                </a:cubicBezTo>
                <a:lnTo>
                  <a:pt x="125284" y="40652"/>
                </a:lnTo>
                <a:cubicBezTo>
                  <a:pt x="127293" y="39826"/>
                  <a:pt x="128588" y="37884"/>
                  <a:pt x="128588" y="35719"/>
                </a:cubicBezTo>
                <a:cubicBezTo>
                  <a:pt x="128588" y="33553"/>
                  <a:pt x="127293" y="31611"/>
                  <a:pt x="125284" y="30785"/>
                </a:cubicBezTo>
                <a:lnTo>
                  <a:pt x="71170" y="8506"/>
                </a:lnTo>
                <a:cubicBezTo>
                  <a:pt x="68982" y="7613"/>
                  <a:pt x="66660" y="7144"/>
                  <a:pt x="64294" y="7144"/>
                </a:cubicBezTo>
                <a:cubicBezTo>
                  <a:pt x="61927" y="7144"/>
                  <a:pt x="59606" y="7613"/>
                  <a:pt x="57418" y="8506"/>
                </a:cubicBezTo>
                <a:lnTo>
                  <a:pt x="3304" y="30785"/>
                </a:lnTo>
                <a:cubicBezTo>
                  <a:pt x="1295" y="31611"/>
                  <a:pt x="0" y="33553"/>
                  <a:pt x="0" y="35719"/>
                </a:cubicBezTo>
                <a:lnTo>
                  <a:pt x="0" y="101798"/>
                </a:lnTo>
                <a:cubicBezTo>
                  <a:pt x="0" y="104768"/>
                  <a:pt x="2389" y="107156"/>
                  <a:pt x="5358" y="107156"/>
                </a:cubicBezTo>
                <a:cubicBezTo>
                  <a:pt x="8327" y="107156"/>
                  <a:pt x="10716" y="104768"/>
                  <a:pt x="10716" y="101798"/>
                </a:cubicBezTo>
                <a:lnTo>
                  <a:pt x="10716" y="43711"/>
                </a:lnTo>
                <a:close/>
                <a:moveTo>
                  <a:pt x="21431" y="59717"/>
                </a:moveTo>
                <a:lnTo>
                  <a:pt x="21431" y="85725"/>
                </a:lnTo>
                <a:cubicBezTo>
                  <a:pt x="21431" y="97557"/>
                  <a:pt x="40630" y="107156"/>
                  <a:pt x="64294" y="107156"/>
                </a:cubicBezTo>
                <a:cubicBezTo>
                  <a:pt x="87957" y="107156"/>
                  <a:pt x="107156" y="97557"/>
                  <a:pt x="107156" y="85725"/>
                </a:cubicBezTo>
                <a:lnTo>
                  <a:pt x="107156" y="59695"/>
                </a:lnTo>
                <a:lnTo>
                  <a:pt x="75255" y="72844"/>
                </a:lnTo>
                <a:cubicBezTo>
                  <a:pt x="71772" y="74273"/>
                  <a:pt x="68067" y="75009"/>
                  <a:pt x="64294" y="75009"/>
                </a:cubicBezTo>
                <a:cubicBezTo>
                  <a:pt x="60521" y="75009"/>
                  <a:pt x="56815" y="74273"/>
                  <a:pt x="53333" y="72844"/>
                </a:cubicBezTo>
                <a:lnTo>
                  <a:pt x="21431" y="59695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10305752" y="6553200"/>
            <a:ext cx="1638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Engineering Design &amp;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75418" y="371475"/>
            <a:ext cx="2498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92853" y="371475"/>
            <a:ext cx="50880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screw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filling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 of Auger Filling Machines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Basic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working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principle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0300" y="1295400"/>
            <a:ext cx="5676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Screw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filling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machines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rely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volumetric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control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accurately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measure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transfer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specific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quantity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powdered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material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from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hopper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package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0300" y="1943100"/>
            <a:ext cx="5581650" cy="1447800"/>
          </a:xfrm>
          <a:custGeom>
            <a:avLst/>
            <a:gdLst/>
            <a:ahLst/>
            <a:cxnLst/>
            <a:rect l="l" t="t" r="r" b="b"/>
            <a:pathLst>
              <a:path w="5581650" h="1447800">
                <a:moveTo>
                  <a:pt x="38106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1409700"/>
                </a:lnTo>
                <a:cubicBezTo>
                  <a:pt x="5581650" y="1430728"/>
                  <a:pt x="5564578" y="1447800"/>
                  <a:pt x="5543550" y="1447800"/>
                </a:cubicBezTo>
                <a:lnTo>
                  <a:pt x="38106" y="1447800"/>
                </a:lnTo>
                <a:cubicBezTo>
                  <a:pt x="17061" y="1447800"/>
                  <a:pt x="0" y="1430739"/>
                  <a:pt x="0" y="1409694"/>
                </a:cubicBezTo>
                <a:lnTo>
                  <a:pt x="0" y="38106"/>
                </a:lnTo>
                <a:cubicBezTo>
                  <a:pt x="0" y="17075"/>
                  <a:pt x="17075" y="0"/>
                  <a:pt x="381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11791950" y="19431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1409700"/>
                </a:lnTo>
                <a:cubicBezTo>
                  <a:pt x="38100" y="1430728"/>
                  <a:pt x="21028" y="1447800"/>
                  <a:pt x="0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362700" y="20955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عوامل التحكم في الكمية المعبأة: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2700" y="23622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</a:t>
            </a:r>
            <a:r>
              <a:rPr lang="en-US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القطر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الخارجي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للولب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(Outer Diameter)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2700" y="25908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الخطوة الحلزونية (Pitch)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2700" y="28194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عدد اللفات (Number of Turns)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700" y="30480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سرعة الدوران (Rotational Speed)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التطبيقات الصناعية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12954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95950" y="1504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20" y="4286"/>
                </a:moveTo>
                <a:cubicBezTo>
                  <a:pt x="18782" y="1845"/>
                  <a:pt x="16728" y="0"/>
                  <a:pt x="14288" y="0"/>
                </a:cubicBezTo>
                <a:cubicBezTo>
                  <a:pt x="11847" y="0"/>
                  <a:pt x="9793" y="1845"/>
                  <a:pt x="9525" y="4256"/>
                </a:cubicBezTo>
                <a:lnTo>
                  <a:pt x="5328" y="44559"/>
                </a:lnTo>
                <a:cubicBezTo>
                  <a:pt x="4941" y="46345"/>
                  <a:pt x="4763" y="48161"/>
                  <a:pt x="4763" y="49976"/>
                </a:cubicBezTo>
                <a:cubicBezTo>
                  <a:pt x="4763" y="63639"/>
                  <a:pt x="15210" y="74861"/>
                  <a:pt x="28575" y="76081"/>
                </a:cubicBez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76081"/>
                </a:lnTo>
                <a:cubicBezTo>
                  <a:pt x="60990" y="74861"/>
                  <a:pt x="71438" y="63639"/>
                  <a:pt x="71438" y="49976"/>
                </a:cubicBezTo>
                <a:cubicBezTo>
                  <a:pt x="71438" y="48161"/>
                  <a:pt x="71259" y="46345"/>
                  <a:pt x="70872" y="44559"/>
                </a:cubicBezTo>
                <a:lnTo>
                  <a:pt x="66645" y="4256"/>
                </a:lnTo>
                <a:cubicBezTo>
                  <a:pt x="66407" y="1845"/>
                  <a:pt x="64353" y="0"/>
                  <a:pt x="61912" y="0"/>
                </a:cubicBezTo>
                <a:cubicBezTo>
                  <a:pt x="59472" y="0"/>
                  <a:pt x="57418" y="1845"/>
                  <a:pt x="57180" y="4286"/>
                </a:cubicBezTo>
                <a:lnTo>
                  <a:pt x="53132" y="44619"/>
                </a:lnTo>
                <a:cubicBezTo>
                  <a:pt x="52953" y="46315"/>
                  <a:pt x="51524" y="47625"/>
                  <a:pt x="49828" y="47625"/>
                </a:cubicBezTo>
                <a:cubicBezTo>
                  <a:pt x="48101" y="47625"/>
                  <a:pt x="46673" y="46315"/>
                  <a:pt x="46494" y="44589"/>
                </a:cubicBezTo>
                <a:lnTo>
                  <a:pt x="42833" y="4346"/>
                </a:lnTo>
                <a:cubicBezTo>
                  <a:pt x="42624" y="1875"/>
                  <a:pt x="40571" y="0"/>
                  <a:pt x="38100" y="0"/>
                </a:cubicBezTo>
                <a:cubicBezTo>
                  <a:pt x="35629" y="0"/>
                  <a:pt x="33576" y="1875"/>
                  <a:pt x="33367" y="4346"/>
                </a:cubicBezTo>
                <a:lnTo>
                  <a:pt x="29706" y="44589"/>
                </a:lnTo>
                <a:cubicBezTo>
                  <a:pt x="29557" y="46315"/>
                  <a:pt x="28099" y="47625"/>
                  <a:pt x="26372" y="47625"/>
                </a:cubicBezTo>
                <a:cubicBezTo>
                  <a:pt x="24646" y="47625"/>
                  <a:pt x="23217" y="46315"/>
                  <a:pt x="23068" y="44619"/>
                </a:cubicBezTo>
                <a:lnTo>
                  <a:pt x="19020" y="4286"/>
                </a:lnTo>
                <a:close/>
                <a:moveTo>
                  <a:pt x="133350" y="0"/>
                </a:moveTo>
                <a:cubicBezTo>
                  <a:pt x="128588" y="0"/>
                  <a:pt x="95250" y="9525"/>
                  <a:pt x="95250" y="52388"/>
                </a:cubicBezTo>
                <a:lnTo>
                  <a:pt x="95250" y="85725"/>
                </a:lnTo>
                <a:cubicBezTo>
                  <a:pt x="95250" y="96232"/>
                  <a:pt x="103793" y="104775"/>
                  <a:pt x="114300" y="104775"/>
                </a:cubicBezTo>
                <a:lnTo>
                  <a:pt x="123825" y="104775"/>
                </a:lnTo>
                <a:lnTo>
                  <a:pt x="123825" y="142875"/>
                </a:lnTo>
                <a:cubicBezTo>
                  <a:pt x="123825" y="148144"/>
                  <a:pt x="128081" y="152400"/>
                  <a:pt x="133350" y="152400"/>
                </a:cubicBezTo>
                <a:cubicBezTo>
                  <a:pt x="138619" y="152400"/>
                  <a:pt x="142875" y="148144"/>
                  <a:pt x="142875" y="142875"/>
                </a:cubicBezTo>
                <a:lnTo>
                  <a:pt x="142875" y="9525"/>
                </a:lnTo>
                <a:cubicBezTo>
                  <a:pt x="142875" y="4256"/>
                  <a:pt x="138619" y="0"/>
                  <a:pt x="1333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39432" y="14097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الصناعات الغذائية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39432" y="1600200"/>
            <a:ext cx="876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ملح، سكر، دقيق، توابل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19812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95950" y="2190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33338"/>
                </a:moveTo>
                <a:cubicBezTo>
                  <a:pt x="19050" y="25450"/>
                  <a:pt x="25450" y="19050"/>
                  <a:pt x="33338" y="19050"/>
                </a:cubicBezTo>
                <a:cubicBezTo>
                  <a:pt x="41225" y="19050"/>
                  <a:pt x="47625" y="25450"/>
                  <a:pt x="47625" y="33338"/>
                </a:cubicBezTo>
                <a:lnTo>
                  <a:pt x="47625" y="66675"/>
                </a:lnTo>
                <a:lnTo>
                  <a:pt x="19050" y="66675"/>
                </a:lnTo>
                <a:lnTo>
                  <a:pt x="19050" y="33338"/>
                </a:lnTo>
                <a:close/>
                <a:moveTo>
                  <a:pt x="52388" y="109537"/>
                </a:moveTo>
                <a:cubicBezTo>
                  <a:pt x="52388" y="95042"/>
                  <a:pt x="57775" y="81796"/>
                  <a:pt x="66675" y="71735"/>
                </a:cubicBezTo>
                <a:lnTo>
                  <a:pt x="66675" y="33338"/>
                </a:lnTo>
                <a:cubicBezTo>
                  <a:pt x="66675" y="14913"/>
                  <a:pt x="51762" y="0"/>
                  <a:pt x="33338" y="0"/>
                </a:cubicBezTo>
                <a:cubicBezTo>
                  <a:pt x="14913" y="0"/>
                  <a:pt x="0" y="14913"/>
                  <a:pt x="0" y="33338"/>
                </a:cubicBezTo>
                <a:lnTo>
                  <a:pt x="0" y="119062"/>
                </a:lnTo>
                <a:cubicBezTo>
                  <a:pt x="0" y="137487"/>
                  <a:pt x="14913" y="152400"/>
                  <a:pt x="33338" y="152400"/>
                </a:cubicBezTo>
                <a:cubicBezTo>
                  <a:pt x="44440" y="152400"/>
                  <a:pt x="54263" y="146983"/>
                  <a:pt x="60335" y="138619"/>
                </a:cubicBezTo>
                <a:cubicBezTo>
                  <a:pt x="55275" y="130106"/>
                  <a:pt x="52388" y="120164"/>
                  <a:pt x="52388" y="109537"/>
                </a:cubicBezTo>
                <a:close/>
                <a:moveTo>
                  <a:pt x="71646" y="129600"/>
                </a:moveTo>
                <a:cubicBezTo>
                  <a:pt x="73015" y="132189"/>
                  <a:pt x="76498" y="132487"/>
                  <a:pt x="78581" y="130403"/>
                </a:cubicBezTo>
                <a:lnTo>
                  <a:pt x="130403" y="78581"/>
                </a:lnTo>
                <a:cubicBezTo>
                  <a:pt x="132487" y="76498"/>
                  <a:pt x="132189" y="73015"/>
                  <a:pt x="129600" y="71646"/>
                </a:cubicBezTo>
                <a:cubicBezTo>
                  <a:pt x="123617" y="68461"/>
                  <a:pt x="116800" y="66675"/>
                  <a:pt x="109537" y="66675"/>
                </a:cubicBezTo>
                <a:cubicBezTo>
                  <a:pt x="85874" y="66675"/>
                  <a:pt x="66675" y="85874"/>
                  <a:pt x="66675" y="109537"/>
                </a:cubicBezTo>
                <a:cubicBezTo>
                  <a:pt x="66675" y="116771"/>
                  <a:pt x="68461" y="123617"/>
                  <a:pt x="71646" y="129600"/>
                </a:cubicBezTo>
                <a:close/>
                <a:moveTo>
                  <a:pt x="88672" y="140494"/>
                </a:moveTo>
                <a:cubicBezTo>
                  <a:pt x="86588" y="142577"/>
                  <a:pt x="86886" y="146060"/>
                  <a:pt x="89475" y="147429"/>
                </a:cubicBezTo>
                <a:cubicBezTo>
                  <a:pt x="95458" y="150614"/>
                  <a:pt x="102275" y="152400"/>
                  <a:pt x="109537" y="152400"/>
                </a:cubicBezTo>
                <a:cubicBezTo>
                  <a:pt x="133201" y="152400"/>
                  <a:pt x="152400" y="133201"/>
                  <a:pt x="152400" y="109537"/>
                </a:cubicBezTo>
                <a:cubicBezTo>
                  <a:pt x="152400" y="102304"/>
                  <a:pt x="150614" y="95458"/>
                  <a:pt x="147429" y="89475"/>
                </a:cubicBezTo>
                <a:cubicBezTo>
                  <a:pt x="146060" y="86886"/>
                  <a:pt x="142577" y="86588"/>
                  <a:pt x="140494" y="88672"/>
                </a:cubicBezTo>
                <a:lnTo>
                  <a:pt x="88672" y="14049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449514" y="20955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الصناعات الدوائية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9514" y="2286000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مساحيق دوائية، مكملات غذائية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26670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95950" y="2876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45303"/>
                </a:lnTo>
                <a:cubicBezTo>
                  <a:pt x="152400" y="39886"/>
                  <a:pt x="146625" y="36463"/>
                  <a:pt x="141863" y="39023"/>
                </a:cubicBezTo>
                <a:lnTo>
                  <a:pt x="95250" y="64115"/>
                </a:lnTo>
                <a:lnTo>
                  <a:pt x="95250" y="45303"/>
                </a:lnTo>
                <a:cubicBezTo>
                  <a:pt x="95250" y="39886"/>
                  <a:pt x="89475" y="36463"/>
                  <a:pt x="84713" y="39023"/>
                </a:cubicBezTo>
                <a:lnTo>
                  <a:pt x="38100" y="64115"/>
                </a:lnTo>
                <a:lnTo>
                  <a:pt x="38100" y="19050"/>
                </a:lnTo>
                <a:cubicBezTo>
                  <a:pt x="38100" y="13781"/>
                  <a:pt x="33844" y="9525"/>
                  <a:pt x="28575" y="9525"/>
                </a:cubicBezTo>
                <a:lnTo>
                  <a:pt x="9525" y="952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275386" y="27813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الصناعات الكيميائية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75386" y="2971800"/>
            <a:ext cx="134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مساحيق كيميائية، إضافات بوليمرات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3619500"/>
            <a:ext cx="11430000" cy="495300"/>
          </a:xfrm>
          <a:custGeom>
            <a:avLst/>
            <a:gdLst/>
            <a:ahLst/>
            <a:cxnLst/>
            <a:rect l="l" t="t" r="r" b="b"/>
            <a:pathLst>
              <a:path w="11430000" h="495300">
                <a:moveTo>
                  <a:pt x="38098" y="0"/>
                </a:moveTo>
                <a:lnTo>
                  <a:pt x="11391902" y="0"/>
                </a:lnTo>
                <a:cubicBezTo>
                  <a:pt x="11412943" y="0"/>
                  <a:pt x="11430000" y="17057"/>
                  <a:pt x="11430000" y="38098"/>
                </a:cubicBezTo>
                <a:lnTo>
                  <a:pt x="11430000" y="457202"/>
                </a:lnTo>
                <a:cubicBezTo>
                  <a:pt x="11430000" y="478243"/>
                  <a:pt x="11412943" y="495300"/>
                  <a:pt x="1139190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27631" y="37909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4850" y="37719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الأهمية في السياق اليمني: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تمثّل آلة تعبئة قابلة للتصنيع محليًا حلاً عمليًا لمشاكل الاستيراد المرتفع التكلفة وندرة </a:t>
            </a:r>
            <a:r>
              <a:rPr lang="en-US" sz="1050" dirty="0" err="1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قطع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الغيار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4800" y="6553200"/>
            <a:ext cx="2105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1: Auger Filling Machine Overview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46247" y="371475"/>
            <a:ext cx="2790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85141" y="381000"/>
            <a:ext cx="5961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Defining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engineering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Definition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914400"/>
            <a:ext cx="11410950" cy="1104900"/>
          </a:xfrm>
          <a:custGeom>
            <a:avLst/>
            <a:gdLst/>
            <a:ahLst/>
            <a:cxnLst/>
            <a:rect l="l" t="t" r="r" b="b"/>
            <a:pathLst>
              <a:path w="11410950" h="1104900">
                <a:moveTo>
                  <a:pt x="0" y="0"/>
                </a:moveTo>
                <a:lnTo>
                  <a:pt x="11410950" y="0"/>
                </a:lnTo>
                <a:lnTo>
                  <a:pt x="1141095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ar-YE" dirty="0"/>
          </a:p>
        </p:txBody>
      </p:sp>
      <p:sp>
        <p:nvSpPr>
          <p:cNvPr id="7" name="Shape 5"/>
          <p:cNvSpPr/>
          <p:nvPr/>
        </p:nvSpPr>
        <p:spPr>
          <a:xfrm>
            <a:off x="11791950" y="9144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1066800"/>
            <a:ext cx="1117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Formulating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engineering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409700"/>
            <a:ext cx="1116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How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can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screw-type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filling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designed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that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capable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transferring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dosing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specific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quantity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salt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powder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constant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mass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accuracy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(≈ 500 g),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within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short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filling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(≈ 2 s),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while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ensuring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that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mechanical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stresses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torques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applied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within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safe</a:t>
            </a:r>
            <a:r>
              <a:rPr lang="ar-YE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20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0300" y="22479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المتطلبات الوظيفية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63363" y="2667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981699" y="26765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af-ZA" sz="1050" b="0" i="0" dirty="0">
                <a:solidFill>
                  <a:srgbClr val="545454"/>
                </a:solidFill>
                <a:effectLst/>
                <a:latin typeface="Arial" panose="020B0604020202020204" pitchFamily="34" charset="0"/>
              </a:rPr>
              <a:t>Transferring the powdered material from the hopper to the filling opening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63363" y="2933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81698" y="295275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Precise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dose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control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(≈ 0.5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kg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  التحكم في الجرعات بدقة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63363" y="3200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81698" y="31623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Prevent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unwanted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flow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using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rotating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663363" y="34671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81699" y="34385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العمل المتزامن </a:t>
            </a:r>
            <a:r>
              <a:rPr lang="en-US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للأجزاء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الدوارة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Simultaneous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rotating</a:t>
            </a:r>
            <a:r>
              <a:rPr lang="ar-YE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22479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متطلبات الأداء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628900"/>
          <a:ext cx="5600700" cy="1771650"/>
        </p:xfrm>
        <a:graphic>
          <a:graphicData uri="http://schemas.openxmlformats.org/drawingml/2006/table">
            <a:tbl>
              <a:tblPr/>
              <a:tblGrid>
                <a:gridCol w="308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8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كتلة التعبئة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 500 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زمن التعبئة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 2 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الكفاءة الحجمية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ηᵥ ≈ 0.6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عدد اللفات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 4.5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معامل الأمان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11682413" y="45624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2" name="Text 19"/>
          <p:cNvSpPr/>
          <p:nvPr/>
        </p:nvSpPr>
        <p:spPr>
          <a:xfrm>
            <a:off x="381000" y="4619625"/>
            <a:ext cx="4850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1: Performance Requirements Summary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60832" y="371475"/>
            <a:ext cx="2644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12685" y="371475"/>
            <a:ext cx="18536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مراجعة الأدبيات والبحث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02650" y="933450"/>
            <a:ext cx="3705225" cy="1047750"/>
          </a:xfrm>
          <a:custGeom>
            <a:avLst/>
            <a:gdLst/>
            <a:ahLst/>
            <a:cxnLst/>
            <a:rect l="l" t="t" r="r" b="b"/>
            <a:pathLst>
              <a:path w="3705225" h="1047750">
                <a:moveTo>
                  <a:pt x="38096" y="0"/>
                </a:moveTo>
                <a:lnTo>
                  <a:pt x="3667129" y="0"/>
                </a:lnTo>
                <a:cubicBezTo>
                  <a:pt x="3688169" y="0"/>
                  <a:pt x="3705225" y="17056"/>
                  <a:pt x="3705225" y="38096"/>
                </a:cubicBezTo>
                <a:lnTo>
                  <a:pt x="3705225" y="1009654"/>
                </a:lnTo>
                <a:cubicBezTo>
                  <a:pt x="3705225" y="1030694"/>
                  <a:pt x="3688169" y="1047750"/>
                  <a:pt x="36671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8102650" y="933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55050" y="11049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نظرية النقل باللولب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55050" y="1409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تحويل الحركة الدورانية إلى حركة محورية عبر الاحتكاك والتداخل الهندسي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5050" y="1676400"/>
            <a:ext cx="345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CEMA Standard 350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1899" y="933450"/>
            <a:ext cx="3705225" cy="1047750"/>
          </a:xfrm>
          <a:custGeom>
            <a:avLst/>
            <a:gdLst/>
            <a:ahLst/>
            <a:cxnLst/>
            <a:rect l="l" t="t" r="r" b="b"/>
            <a:pathLst>
              <a:path w="3705225" h="1047750">
                <a:moveTo>
                  <a:pt x="38096" y="0"/>
                </a:moveTo>
                <a:lnTo>
                  <a:pt x="3667129" y="0"/>
                </a:lnTo>
                <a:cubicBezTo>
                  <a:pt x="3688169" y="0"/>
                  <a:pt x="3705225" y="17056"/>
                  <a:pt x="3705225" y="38096"/>
                </a:cubicBezTo>
                <a:lnTo>
                  <a:pt x="3705225" y="1009654"/>
                </a:lnTo>
                <a:cubicBezTo>
                  <a:pt x="3705225" y="1030694"/>
                  <a:pt x="3688169" y="1047750"/>
                  <a:pt x="36671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241899" y="933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394299" y="11049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مناولة المساحيق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94299" y="1409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خصائص المواد الحبيبية: احتكاك داخلي، زاوية احتكاك الجدار، قابلية التدفق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4299" y="1676400"/>
            <a:ext cx="345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Jenike, Schulze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933450"/>
            <a:ext cx="3705225" cy="1047750"/>
          </a:xfrm>
          <a:custGeom>
            <a:avLst/>
            <a:gdLst/>
            <a:ahLst/>
            <a:cxnLst/>
            <a:rect l="l" t="t" r="r" b="b"/>
            <a:pathLst>
              <a:path w="3705225" h="1047750">
                <a:moveTo>
                  <a:pt x="38096" y="0"/>
                </a:moveTo>
                <a:lnTo>
                  <a:pt x="3667129" y="0"/>
                </a:lnTo>
                <a:cubicBezTo>
                  <a:pt x="3688169" y="0"/>
                  <a:pt x="3705225" y="17056"/>
                  <a:pt x="3705225" y="38096"/>
                </a:cubicBezTo>
                <a:lnTo>
                  <a:pt x="3705225" y="1009654"/>
                </a:lnTo>
                <a:cubicBezTo>
                  <a:pt x="3705225" y="1030694"/>
                  <a:pt x="3688169" y="1047750"/>
                  <a:pt x="3667129" y="1047750"/>
                </a:cubicBezTo>
                <a:lnTo>
                  <a:pt x="38096" y="1047750"/>
                </a:lnTo>
                <a:cubicBezTo>
                  <a:pt x="17056" y="1047750"/>
                  <a:pt x="0" y="1030694"/>
                  <a:pt x="0" y="100965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9334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3400" y="11049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نماذج العزوم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400" y="14097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عزم المادة، الاحتكاك، القص الداخلي، قصور الحركة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400" y="1676400"/>
            <a:ext cx="3457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Roberts, Shigley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0300" y="22098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خصائص ملح الطعام (NaCl)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2590800"/>
          <a:ext cx="5600700" cy="1419224"/>
        </p:xfrm>
        <a:graphic>
          <a:graphicData uri="http://schemas.openxmlformats.org/drawingml/2006/table">
            <a:tbl>
              <a:tblPr/>
              <a:tblGrid>
                <a:gridCol w="2871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8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الكثافة الحجمية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1200-1400 kg/m³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زاوية الاحتكاك الداخلي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30°-35°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زاوية احتكاك الجدار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18°-25°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معامل الاحتكاك مع 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0.3-0.45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81000" y="22098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الدروس المستفادة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34063" y="2628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552450" y="25908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ضرورة إعادة حساب العزوم أكثر من مرة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34063" y="2895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552450" y="28575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إدخال معامل أمان محافظ (2-3)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34063" y="3162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52450" y="31242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فصل التحليل الإنشائي إلى مراحل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834063" y="3429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552450" y="33909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اختيار وصلات قابلة للفك السريع (J-Slot)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37913" y="371475"/>
            <a:ext cx="2873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275266" y="371475"/>
            <a:ext cx="23681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بنية النظام والتصميم المفاهيمي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الأنظمة الفرعية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3335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11791950" y="1333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53800" y="1466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315700" y="14668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91824" y="144780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نظام القيادة والحركة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91824" y="1638300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Servo Motor + Planetary Gearbox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20193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91950" y="20193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53800" y="21526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315700" y="21526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02948" y="21336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نظام نقل القدرة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2948" y="2324100"/>
            <a:ext cx="199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Coupling + Keyway + Cross Pin + J-Slot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0" y="27051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91950" y="27051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53800" y="2838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15700" y="28384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99278" y="281940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نظام تعبئة اللولب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99278" y="3009900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Auger Screw + Shaft + Housing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33909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91950" y="33909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53800" y="3524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1315700" y="35242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37166" y="35052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نظام تحكم في التدفق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37166" y="36957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Rotary Plate + Agitator Blades + Bearings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مخطط التدفق الوظيفي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1333500"/>
            <a:ext cx="5600700" cy="3314700"/>
          </a:xfrm>
          <a:custGeom>
            <a:avLst/>
            <a:gdLst/>
            <a:ahLst/>
            <a:cxnLst/>
            <a:rect l="l" t="t" r="r" b="b"/>
            <a:pathLst>
              <a:path w="5600700" h="3314700">
                <a:moveTo>
                  <a:pt x="38086" y="0"/>
                </a:moveTo>
                <a:lnTo>
                  <a:pt x="5562614" y="0"/>
                </a:lnTo>
                <a:cubicBezTo>
                  <a:pt x="5583648" y="0"/>
                  <a:pt x="5600700" y="17052"/>
                  <a:pt x="5600700" y="38086"/>
                </a:cubicBezTo>
                <a:lnTo>
                  <a:pt x="5600700" y="3276614"/>
                </a:lnTo>
                <a:cubicBezTo>
                  <a:pt x="5600700" y="3297648"/>
                  <a:pt x="5583648" y="3314700"/>
                  <a:pt x="5562614" y="3314700"/>
                </a:cubicBezTo>
                <a:lnTo>
                  <a:pt x="38086" y="3314700"/>
                </a:lnTo>
                <a:cubicBezTo>
                  <a:pt x="17052" y="3314700"/>
                  <a:pt x="0" y="3297648"/>
                  <a:pt x="0" y="3276614"/>
                </a:cubicBezTo>
                <a:lnTo>
                  <a:pt x="0" y="38086"/>
                </a:lnTo>
                <a:cubicBezTo>
                  <a:pt x="0" y="17066"/>
                  <a:pt x="17066" y="0"/>
                  <a:pt x="3808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38163" y="1490663"/>
            <a:ext cx="5286375" cy="352425"/>
          </a:xfrm>
          <a:custGeom>
            <a:avLst/>
            <a:gdLst/>
            <a:ahLst/>
            <a:cxnLst/>
            <a:rect l="l" t="t" r="r" b="b"/>
            <a:pathLst>
              <a:path w="5286375" h="352425">
                <a:moveTo>
                  <a:pt x="38101" y="0"/>
                </a:moveTo>
                <a:lnTo>
                  <a:pt x="5248274" y="0"/>
                </a:lnTo>
                <a:cubicBezTo>
                  <a:pt x="5269317" y="0"/>
                  <a:pt x="5286375" y="17058"/>
                  <a:pt x="5286375" y="38101"/>
                </a:cubicBezTo>
                <a:lnTo>
                  <a:pt x="5286375" y="314324"/>
                </a:lnTo>
                <a:cubicBezTo>
                  <a:pt x="5286375" y="335367"/>
                  <a:pt x="5269317" y="352425"/>
                  <a:pt x="52482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063" y="1485900"/>
            <a:ext cx="5343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إدخال أوامر التعبئة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24200" y="1924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38163" y="2157413"/>
            <a:ext cx="5286375" cy="352425"/>
          </a:xfrm>
          <a:custGeom>
            <a:avLst/>
            <a:gdLst/>
            <a:ahLst/>
            <a:cxnLst/>
            <a:rect l="l" t="t" r="r" b="b"/>
            <a:pathLst>
              <a:path w="5286375" h="352425">
                <a:moveTo>
                  <a:pt x="38101" y="0"/>
                </a:moveTo>
                <a:lnTo>
                  <a:pt x="5248274" y="0"/>
                </a:lnTo>
                <a:cubicBezTo>
                  <a:pt x="5269317" y="0"/>
                  <a:pt x="5286375" y="17058"/>
                  <a:pt x="5286375" y="38101"/>
                </a:cubicBezTo>
                <a:lnTo>
                  <a:pt x="5286375" y="314324"/>
                </a:lnTo>
                <a:cubicBezTo>
                  <a:pt x="5286375" y="335367"/>
                  <a:pt x="5269317" y="352425"/>
                  <a:pt x="52482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063" y="2152650"/>
            <a:ext cx="5343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دوران السيرفو → الجيربوكس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24200" y="25908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538163" y="2824163"/>
            <a:ext cx="5286375" cy="352425"/>
          </a:xfrm>
          <a:custGeom>
            <a:avLst/>
            <a:gdLst/>
            <a:ahLst/>
            <a:cxnLst/>
            <a:rect l="l" t="t" r="r" b="b"/>
            <a:pathLst>
              <a:path w="5286375" h="352425">
                <a:moveTo>
                  <a:pt x="38101" y="0"/>
                </a:moveTo>
                <a:lnTo>
                  <a:pt x="5248274" y="0"/>
                </a:lnTo>
                <a:cubicBezTo>
                  <a:pt x="5269317" y="0"/>
                  <a:pt x="5286375" y="17058"/>
                  <a:pt x="5286375" y="38101"/>
                </a:cubicBezTo>
                <a:lnTo>
                  <a:pt x="5286375" y="314324"/>
                </a:lnTo>
                <a:cubicBezTo>
                  <a:pt x="5286375" y="335367"/>
                  <a:pt x="5269317" y="352425"/>
                  <a:pt x="52482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0063" y="2819400"/>
            <a:ext cx="5343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نقل العزم إلى عمود المثقاب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124200" y="3257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538163" y="3490913"/>
            <a:ext cx="5286375" cy="352425"/>
          </a:xfrm>
          <a:custGeom>
            <a:avLst/>
            <a:gdLst/>
            <a:ahLst/>
            <a:cxnLst/>
            <a:rect l="l" t="t" r="r" b="b"/>
            <a:pathLst>
              <a:path w="5286375" h="352425">
                <a:moveTo>
                  <a:pt x="38101" y="0"/>
                </a:moveTo>
                <a:lnTo>
                  <a:pt x="5248274" y="0"/>
                </a:lnTo>
                <a:cubicBezTo>
                  <a:pt x="5269317" y="0"/>
                  <a:pt x="5286375" y="17058"/>
                  <a:pt x="5286375" y="38101"/>
                </a:cubicBezTo>
                <a:lnTo>
                  <a:pt x="5286375" y="314324"/>
                </a:lnTo>
                <a:cubicBezTo>
                  <a:pt x="5286375" y="335367"/>
                  <a:pt x="5269317" y="352425"/>
                  <a:pt x="5248274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063" y="3486150"/>
            <a:ext cx="53435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دوران اللولب والصحن الدوار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24200" y="3924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533400" y="4152900"/>
            <a:ext cx="5295900" cy="342900"/>
          </a:xfrm>
          <a:custGeom>
            <a:avLst/>
            <a:gdLst/>
            <a:ahLst/>
            <a:cxnLst/>
            <a:rect l="l" t="t" r="r" b="b"/>
            <a:pathLst>
              <a:path w="5295900" h="342900">
                <a:moveTo>
                  <a:pt x="38100" y="0"/>
                </a:moveTo>
                <a:lnTo>
                  <a:pt x="5257800" y="0"/>
                </a:lnTo>
                <a:cubicBezTo>
                  <a:pt x="5278842" y="0"/>
                  <a:pt x="5295900" y="17058"/>
                  <a:pt x="5295900" y="38100"/>
                </a:cubicBezTo>
                <a:lnTo>
                  <a:pt x="5295900" y="304800"/>
                </a:lnTo>
                <a:cubicBezTo>
                  <a:pt x="5295900" y="325842"/>
                  <a:pt x="5278842" y="342900"/>
                  <a:pt x="52578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500063" y="4152900"/>
            <a:ext cx="536257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تفريغ المادة في العبوة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4800600"/>
            <a:ext cx="11430000" cy="419100"/>
          </a:xfrm>
          <a:custGeom>
            <a:avLst/>
            <a:gdLst/>
            <a:ahLst/>
            <a:cxnLst/>
            <a:rect l="l" t="t" r="r" b="b"/>
            <a:pathLst>
              <a:path w="11430000" h="4191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81000"/>
                </a:lnTo>
                <a:cubicBezTo>
                  <a:pt x="11430000" y="402042"/>
                  <a:pt x="11412942" y="419100"/>
                  <a:pt x="11391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8940403" y="4933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33413" y="4914900"/>
            <a:ext cx="1109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المكونات الرئيسية: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Panasonic MSMF042L1U1 Servo + Apex Dynamics AB060A-020 Gearbox (Ratio 20:1)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74971" y="371475"/>
            <a:ext cx="2503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86096" y="300036"/>
            <a:ext cx="4824867" cy="466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</a:t>
            </a: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اللولب (</a:t>
            </a: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Auger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Screw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Auger Screw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المعاملات </a:t>
            </a: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الهندسية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الأساسية (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Basic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engineering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parameters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 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1295400"/>
          <a:ext cx="5600699" cy="2476502"/>
        </p:xfrm>
        <a:graphic>
          <a:graphicData uri="http://schemas.openxmlformats.org/drawingml/2006/table">
            <a:tbl>
              <a:tblPr/>
              <a:tblGrid>
                <a:gridCol w="283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المعامل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الرمز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القطر الخارجي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قطر العمود الداخلي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الخطوة (Pitch)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عدد اللفات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سماكة الريشة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الخلوص الشعاعي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6210300" y="3848100"/>
            <a:ext cx="5657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2: Auger Screw Geometric Parameters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الأبعاد النهائية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295400"/>
          <a:ext cx="5600700" cy="1419224"/>
        </p:xfrm>
        <a:graphic>
          <a:graphicData uri="http://schemas.openxmlformats.org/drawingml/2006/table">
            <a:tbl>
              <a:tblPr/>
              <a:tblGrid>
                <a:gridCol w="376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الطول الكلي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444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طول الجزء الحلزوني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286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طول الجزء الأملس العلوي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110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طول الجزء المسنن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81000" y="2867025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الاعتبارات التصميمية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867400" y="322897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0133" y="66675"/>
                </a:lnTo>
                <a:lnTo>
                  <a:pt x="55892" y="30889"/>
                </a:lnTo>
                <a:cubicBezTo>
                  <a:pt x="59148" y="27634"/>
                  <a:pt x="59148" y="22347"/>
                  <a:pt x="55892" y="19091"/>
                </a:cubicBezTo>
                <a:cubicBezTo>
                  <a:pt x="52637" y="15835"/>
                  <a:pt x="47350" y="15835"/>
                  <a:pt x="44094" y="19091"/>
                </a:cubicBezTo>
                <a:lnTo>
                  <a:pt x="2422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9"/>
          <p:cNvSpPr/>
          <p:nvPr/>
        </p:nvSpPr>
        <p:spPr>
          <a:xfrm>
            <a:off x="233361" y="3228974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اختيار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 = p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يقلل الانزلاق الداخلي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867400" y="345757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0133" y="66675"/>
                </a:lnTo>
                <a:lnTo>
                  <a:pt x="55892" y="30889"/>
                </a:lnTo>
                <a:cubicBezTo>
                  <a:pt x="59148" y="27634"/>
                  <a:pt x="59148" y="22347"/>
                  <a:pt x="55892" y="19091"/>
                </a:cubicBezTo>
                <a:cubicBezTo>
                  <a:pt x="52637" y="15835"/>
                  <a:pt x="47350" y="15835"/>
                  <a:pt x="44094" y="19091"/>
                </a:cubicBezTo>
                <a:lnTo>
                  <a:pt x="2422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11"/>
          <p:cNvSpPr/>
          <p:nvPr/>
        </p:nvSpPr>
        <p:spPr>
          <a:xfrm>
            <a:off x="233362" y="34333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Fillet radius = 4 mm عند جذر الريشة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867400" y="368617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0133" y="66675"/>
                </a:lnTo>
                <a:lnTo>
                  <a:pt x="55892" y="30889"/>
                </a:lnTo>
                <a:cubicBezTo>
                  <a:pt x="59148" y="27634"/>
                  <a:pt x="59148" y="22347"/>
                  <a:pt x="55892" y="19091"/>
                </a:cubicBezTo>
                <a:cubicBezTo>
                  <a:pt x="52637" y="15835"/>
                  <a:pt x="47350" y="15835"/>
                  <a:pt x="44094" y="19091"/>
                </a:cubicBezTo>
                <a:lnTo>
                  <a:pt x="2422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3"/>
          <p:cNvSpPr/>
          <p:nvPr/>
        </p:nvSpPr>
        <p:spPr>
          <a:xfrm>
            <a:off x="290512" y="364807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Chamfer 1×45° عند حافة الريشة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867400" y="3914775"/>
            <a:ext cx="66675" cy="133350"/>
          </a:xfrm>
          <a:custGeom>
            <a:avLst/>
            <a:gdLst/>
            <a:ahLst/>
            <a:cxnLst/>
            <a:rect l="l" t="t" r="r" b="b"/>
            <a:pathLst>
              <a:path w="66675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0133" y="66675"/>
                </a:lnTo>
                <a:lnTo>
                  <a:pt x="55892" y="30889"/>
                </a:lnTo>
                <a:cubicBezTo>
                  <a:pt x="59148" y="27634"/>
                  <a:pt x="59148" y="22347"/>
                  <a:pt x="55892" y="19091"/>
                </a:cubicBezTo>
                <a:cubicBezTo>
                  <a:pt x="52637" y="15835"/>
                  <a:pt x="47350" y="15835"/>
                  <a:pt x="44094" y="19091"/>
                </a:cubicBezTo>
                <a:lnTo>
                  <a:pt x="2422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233361" y="3831468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مادة SS304 Food Grade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1000" y="4238625"/>
            <a:ext cx="11410950" cy="419100"/>
          </a:xfrm>
          <a:custGeom>
            <a:avLst/>
            <a:gdLst/>
            <a:ahLst/>
            <a:cxnLst/>
            <a:rect l="l" t="t" r="r" b="b"/>
            <a:pathLst>
              <a:path w="11410950" h="419100">
                <a:moveTo>
                  <a:pt x="38100" y="0"/>
                </a:moveTo>
                <a:lnTo>
                  <a:pt x="11372850" y="0"/>
                </a:lnTo>
                <a:cubicBezTo>
                  <a:pt x="11393892" y="0"/>
                  <a:pt x="11410950" y="17058"/>
                  <a:pt x="11410950" y="38100"/>
                </a:cubicBezTo>
                <a:lnTo>
                  <a:pt x="11410950" y="381000"/>
                </a:lnTo>
                <a:cubicBezTo>
                  <a:pt x="11410950" y="402042"/>
                  <a:pt x="11393892" y="419100"/>
                  <a:pt x="113728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ar-YE" dirty="0"/>
          </a:p>
        </p:txBody>
      </p:sp>
      <p:sp>
        <p:nvSpPr>
          <p:cNvPr id="21" name="Shape 17"/>
          <p:cNvSpPr/>
          <p:nvPr/>
        </p:nvSpPr>
        <p:spPr>
          <a:xfrm>
            <a:off x="11791950" y="42386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18"/>
          <p:cNvSpPr/>
          <p:nvPr/>
        </p:nvSpPr>
        <p:spPr>
          <a:xfrm>
            <a:off x="11510963" y="4371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666750" y="4352925"/>
            <a:ext cx="1105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الوظيفة الهندسية: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تحويل الحركة الدورانية إلى حركة نقل وتحكم دقيقة في كمية المادة الحبيبية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39550" y="371475"/>
            <a:ext cx="28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37129" y="371475"/>
            <a:ext cx="270792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 عمود اللولب والصحن الدوار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Shaft &amp; Rotary Plate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وصلة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J-Slot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 </a:t>
            </a: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ربط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اللولب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1104900"/>
          </a:xfrm>
          <a:custGeom>
            <a:avLst/>
            <a:gdLst/>
            <a:ahLst/>
            <a:cxnLst/>
            <a:rect l="l" t="t" r="r" b="b"/>
            <a:pathLst>
              <a:path w="5600700" h="1104900">
                <a:moveTo>
                  <a:pt x="38097" y="0"/>
                </a:moveTo>
                <a:lnTo>
                  <a:pt x="5562603" y="0"/>
                </a:lnTo>
                <a:cubicBezTo>
                  <a:pt x="5583643" y="0"/>
                  <a:pt x="5600700" y="17057"/>
                  <a:pt x="5600700" y="38097"/>
                </a:cubicBezTo>
                <a:lnTo>
                  <a:pt x="5600700" y="1066803"/>
                </a:lnTo>
                <a:cubicBezTo>
                  <a:pt x="5600700" y="1087843"/>
                  <a:pt x="5583643" y="1104900"/>
                  <a:pt x="5562603" y="1104900"/>
                </a:cubicBezTo>
                <a:lnTo>
                  <a:pt x="38097" y="1104900"/>
                </a:lnTo>
                <a:cubicBezTo>
                  <a:pt x="17057" y="1104900"/>
                  <a:pt x="0" y="1087843"/>
                  <a:pt x="0" y="106680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2700" y="1447800"/>
          <a:ext cx="5295900" cy="800100"/>
        </p:xfrm>
        <a:graphic>
          <a:graphicData uri="http://schemas.openxmlformats.org/drawingml/2006/table">
            <a:tbl>
              <a:tblPr/>
              <a:tblGrid>
                <a:gridCol w="353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طول الجزء العمودي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طول الجزء الأفقي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قطر فتحة J-Slot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11396067" y="2552700"/>
            <a:ext cx="481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المميزات: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71697" y="2838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381750" y="28194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فك وتركيب سريع بدون أدوات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671697" y="3067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750" y="30480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نقل عزم موثوق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71697" y="3295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381750" y="32766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مناسب للبيئات الغذائية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10300" y="36195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وصلة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 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Cross-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Pin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مع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الجيربوكس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10300" y="4000500"/>
            <a:ext cx="566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نقل عزم فعال عبر دبوس بقطر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 mm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مع Keyway + Set Screw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الصحن الدوار (Rotary Plate)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1295400"/>
            <a:ext cx="5600700" cy="2076450"/>
          </a:xfrm>
          <a:custGeom>
            <a:avLst/>
            <a:gdLst/>
            <a:ahLst/>
            <a:cxnLst/>
            <a:rect l="l" t="t" r="r" b="b"/>
            <a:pathLst>
              <a:path w="5600700" h="2076450">
                <a:moveTo>
                  <a:pt x="38103" y="0"/>
                </a:moveTo>
                <a:lnTo>
                  <a:pt x="5562597" y="0"/>
                </a:lnTo>
                <a:cubicBezTo>
                  <a:pt x="5583627" y="0"/>
                  <a:pt x="5600700" y="17073"/>
                  <a:pt x="5600700" y="38103"/>
                </a:cubicBezTo>
                <a:lnTo>
                  <a:pt x="5600700" y="2038347"/>
                </a:lnTo>
                <a:cubicBezTo>
                  <a:pt x="5600700" y="2059391"/>
                  <a:pt x="5583641" y="2076450"/>
                  <a:pt x="5562597" y="2076450"/>
                </a:cubicBezTo>
                <a:lnTo>
                  <a:pt x="38103" y="2076450"/>
                </a:lnTo>
                <a:cubicBezTo>
                  <a:pt x="17059" y="2076450"/>
                  <a:pt x="0" y="2059391"/>
                  <a:pt x="0" y="203834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447800"/>
          <a:ext cx="5295900" cy="1771650"/>
        </p:xfrm>
        <a:graphic>
          <a:graphicData uri="http://schemas.openxmlformats.org/drawingml/2006/table">
            <a:tbl>
              <a:tblPr/>
              <a:tblGrid>
                <a:gridCol w="320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المعامل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القطر الخارجي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قطر القرص المسطح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69.55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سمك الصدفة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زاوية الميل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55°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381000" y="352425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الوظيفة الهندسية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834063" y="3886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266700" y="387667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استقبال المادة الخارجة من اللولب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834063" y="4114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1"/>
          <p:cNvSpPr/>
          <p:nvPr/>
        </p:nvSpPr>
        <p:spPr>
          <a:xfrm>
            <a:off x="277746" y="40862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تفريق المادة شعاعياً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834063" y="4343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277747" y="4343400"/>
            <a:ext cx="549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تحسين انتظام السقوط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834063" y="4572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277746" y="455295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تقليل التكتل أسفل اللولب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1689556" y="49053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6407" y="7144"/>
                  <a:pt x="0" y="13551"/>
                  <a:pt x="0" y="21431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21431"/>
                </a:lnTo>
                <a:cubicBezTo>
                  <a:pt x="100013" y="13551"/>
                  <a:pt x="93605" y="7144"/>
                  <a:pt x="85725" y="7144"/>
                </a:cubicBezTo>
                <a:lnTo>
                  <a:pt x="14288" y="7144"/>
                </a:lnTo>
                <a:close/>
                <a:moveTo>
                  <a:pt x="28575" y="25003"/>
                </a:moveTo>
                <a:cubicBezTo>
                  <a:pt x="34489" y="25003"/>
                  <a:pt x="39291" y="29805"/>
                  <a:pt x="39291" y="35719"/>
                </a:cubicBezTo>
                <a:cubicBezTo>
                  <a:pt x="39291" y="41633"/>
                  <a:pt x="34489" y="46434"/>
                  <a:pt x="28575" y="46434"/>
                </a:cubicBezTo>
                <a:cubicBezTo>
                  <a:pt x="22661" y="46434"/>
                  <a:pt x="17859" y="41633"/>
                  <a:pt x="17859" y="35719"/>
                </a:cubicBezTo>
                <a:cubicBezTo>
                  <a:pt x="17859" y="29805"/>
                  <a:pt x="22661" y="25003"/>
                  <a:pt x="28575" y="25003"/>
                </a:cubicBezTo>
                <a:close/>
                <a:moveTo>
                  <a:pt x="60722" y="50006"/>
                </a:moveTo>
                <a:cubicBezTo>
                  <a:pt x="62597" y="50006"/>
                  <a:pt x="64316" y="50989"/>
                  <a:pt x="65298" y="52574"/>
                </a:cubicBezTo>
                <a:lnTo>
                  <a:pt x="84944" y="84720"/>
                </a:lnTo>
                <a:cubicBezTo>
                  <a:pt x="85948" y="86372"/>
                  <a:pt x="85993" y="88449"/>
                  <a:pt x="85055" y="90145"/>
                </a:cubicBezTo>
                <a:cubicBezTo>
                  <a:pt x="84118" y="91842"/>
                  <a:pt x="82309" y="92869"/>
                  <a:pt x="80367" y="92869"/>
                </a:cubicBezTo>
                <a:lnTo>
                  <a:pt x="19645" y="92869"/>
                </a:lnTo>
                <a:cubicBezTo>
                  <a:pt x="17658" y="92869"/>
                  <a:pt x="15806" y="91753"/>
                  <a:pt x="14890" y="89989"/>
                </a:cubicBezTo>
                <a:cubicBezTo>
                  <a:pt x="13975" y="88225"/>
                  <a:pt x="14109" y="86082"/>
                  <a:pt x="15247" y="84453"/>
                </a:cubicBezTo>
                <a:lnTo>
                  <a:pt x="27749" y="66593"/>
                </a:lnTo>
                <a:cubicBezTo>
                  <a:pt x="28754" y="65164"/>
                  <a:pt x="30383" y="64316"/>
                  <a:pt x="32147" y="64316"/>
                </a:cubicBezTo>
                <a:cubicBezTo>
                  <a:pt x="33910" y="64316"/>
                  <a:pt x="35540" y="65164"/>
                  <a:pt x="36545" y="66593"/>
                </a:cubicBezTo>
                <a:lnTo>
                  <a:pt x="42438" y="75032"/>
                </a:lnTo>
                <a:lnTo>
                  <a:pt x="56145" y="52596"/>
                </a:lnTo>
                <a:cubicBezTo>
                  <a:pt x="57128" y="51011"/>
                  <a:pt x="58847" y="50029"/>
                  <a:pt x="60722" y="50029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7"/>
          <p:cNvSpPr/>
          <p:nvPr/>
        </p:nvSpPr>
        <p:spPr>
          <a:xfrm>
            <a:off x="0" y="6172200"/>
            <a:ext cx="1134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2: [Place for Design Image - Insert CAD Model Here]</a:t>
            </a:r>
            <a:endParaRPr lang="en-US" sz="1600" dirty="0"/>
          </a:p>
        </p:txBody>
      </p:sp>
      <p:pic>
        <p:nvPicPr>
          <p:cNvPr id="32" name="صورة 31">
            <a:extLst>
              <a:ext uri="{FF2B5EF4-FFF2-40B4-BE49-F238E27FC236}">
                <a16:creationId xmlns:a16="http://schemas.microsoft.com/office/drawing/2014/main" id="{C9A71BE5-CA04-DC8B-9EFB-347B0FFF2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052" y="4484215"/>
            <a:ext cx="3115819" cy="16290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38657" y="371475"/>
            <a:ext cx="2866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43464" y="338137"/>
            <a:ext cx="56007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الحسابات</a:t>
            </a: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الحجمية (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Volumetric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Volumetric Calculations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المعادلات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الأساسية (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Basic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equations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2733675"/>
          </a:xfrm>
          <a:custGeom>
            <a:avLst/>
            <a:gdLst/>
            <a:ahLst/>
            <a:cxnLst/>
            <a:rect l="l" t="t" r="r" b="b"/>
            <a:pathLst>
              <a:path w="5600700" h="2733675">
                <a:moveTo>
                  <a:pt x="38107" y="0"/>
                </a:moveTo>
                <a:lnTo>
                  <a:pt x="5562593" y="0"/>
                </a:lnTo>
                <a:cubicBezTo>
                  <a:pt x="5583639" y="0"/>
                  <a:pt x="5600700" y="17061"/>
                  <a:pt x="5600700" y="38107"/>
                </a:cubicBezTo>
                <a:lnTo>
                  <a:pt x="5600700" y="2695568"/>
                </a:lnTo>
                <a:cubicBezTo>
                  <a:pt x="5600700" y="2716614"/>
                  <a:pt x="5583639" y="2733675"/>
                  <a:pt x="5562593" y="2733675"/>
                </a:cubicBezTo>
                <a:lnTo>
                  <a:pt x="38107" y="2733675"/>
                </a:lnTo>
                <a:cubicBezTo>
                  <a:pt x="17061" y="2733675"/>
                  <a:pt x="0" y="2716614"/>
                  <a:pt x="0" y="2695568"/>
                </a:cubicBezTo>
                <a:lnTo>
                  <a:pt x="0" y="38107"/>
                </a:lnTo>
                <a:cubicBezTo>
                  <a:pt x="0" y="17075"/>
                  <a:pt x="17075" y="0"/>
                  <a:pt x="381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6362700" y="198596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6362700" y="14478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مساحة المقطع الحلقي: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19838" y="16383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= π/4 × (D² - D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²)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62700" y="2643188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6362700" y="2105025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الحجم النظري لكل دورة: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9838" y="22955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A × 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2700" y="3300413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6362700" y="276225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الحجم الفعلي: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19838" y="295275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η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× V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2700" y="3419475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الكتلة لكل دورة: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19838" y="360997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ρ × V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النتائج</a:t>
            </a: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المحسوبة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Calculated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350" b="1" dirty="0" err="1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results</a:t>
            </a:r>
            <a:r>
              <a:rPr lang="ar-YE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558579"/>
              </p:ext>
            </p:extLst>
          </p:nvPr>
        </p:nvGraphicFramePr>
        <p:xfrm>
          <a:off x="381000" y="1295400"/>
          <a:ext cx="5600701" cy="2476502"/>
        </p:xfrm>
        <a:graphic>
          <a:graphicData uri="http://schemas.openxmlformats.org/drawingml/2006/table">
            <a:tbl>
              <a:tblPr/>
              <a:tblGrid>
                <a:gridCol w="27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البند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الوحدة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مساحة </a:t>
                      </a:r>
                      <a:r>
                        <a:rPr lang="en-US" sz="1000" u="none" dirty="0" err="1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المقطع</a:t>
                      </a:r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000" u="none" dirty="0" err="1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الحلقي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0.002626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m²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الحجم النظري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157.6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cm³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الحجم الفعلي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94.6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cm³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الكتلة لكل دورة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122.9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عدد الدورات لـ 500g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rev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سرعة الدوران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81000" y="4181475"/>
            <a:ext cx="11430000" cy="419100"/>
          </a:xfrm>
          <a:custGeom>
            <a:avLst/>
            <a:gdLst/>
            <a:ahLst/>
            <a:cxnLst/>
            <a:rect l="l" t="t" r="r" b="b"/>
            <a:pathLst>
              <a:path w="11430000" h="4191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81000"/>
                </a:lnTo>
                <a:cubicBezTo>
                  <a:pt x="11430000" y="402042"/>
                  <a:pt x="11412942" y="419100"/>
                  <a:pt x="11391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11565731" y="43148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25003" y="16669"/>
                </a:moveTo>
                <a:lnTo>
                  <a:pt x="75009" y="16669"/>
                </a:lnTo>
                <a:cubicBezTo>
                  <a:pt x="79619" y="16669"/>
                  <a:pt x="83344" y="20393"/>
                  <a:pt x="83344" y="25003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25003" y="41672"/>
                </a:lnTo>
                <a:cubicBezTo>
                  <a:pt x="20393" y="41672"/>
                  <a:pt x="16669" y="37947"/>
                  <a:pt x="16669" y="33337"/>
                </a:cubicBezTo>
                <a:lnTo>
                  <a:pt x="16669" y="25003"/>
                </a:lnTo>
                <a:cubicBezTo>
                  <a:pt x="16669" y="20393"/>
                  <a:pt x="20393" y="16669"/>
                  <a:pt x="25003" y="16669"/>
                </a:cubicBezTo>
                <a:close/>
                <a:moveTo>
                  <a:pt x="29170" y="60424"/>
                </a:moveTo>
                <a:cubicBezTo>
                  <a:pt x="29170" y="63874"/>
                  <a:pt x="26369" y="66675"/>
                  <a:pt x="22920" y="66675"/>
                </a:cubicBezTo>
                <a:cubicBezTo>
                  <a:pt x="19470" y="66675"/>
                  <a:pt x="16669" y="63874"/>
                  <a:pt x="16669" y="60424"/>
                </a:cubicBezTo>
                <a:cubicBezTo>
                  <a:pt x="16669" y="56974"/>
                  <a:pt x="19470" y="54173"/>
                  <a:pt x="22920" y="54173"/>
                </a:cubicBezTo>
                <a:cubicBezTo>
                  <a:pt x="26369" y="54173"/>
                  <a:pt x="29170" y="56974"/>
                  <a:pt x="29170" y="60424"/>
                </a:cubicBezTo>
                <a:close/>
                <a:moveTo>
                  <a:pt x="50006" y="66675"/>
                </a:moveTo>
                <a:cubicBezTo>
                  <a:pt x="46556" y="66675"/>
                  <a:pt x="43755" y="63874"/>
                  <a:pt x="43755" y="60424"/>
                </a:cubicBezTo>
                <a:cubicBezTo>
                  <a:pt x="43755" y="56974"/>
                  <a:pt x="46556" y="54173"/>
                  <a:pt x="50006" y="54173"/>
                </a:cubicBezTo>
                <a:cubicBezTo>
                  <a:pt x="53456" y="54173"/>
                  <a:pt x="56257" y="56974"/>
                  <a:pt x="56257" y="60424"/>
                </a:cubicBezTo>
                <a:cubicBezTo>
                  <a:pt x="56257" y="63874"/>
                  <a:pt x="53456" y="66675"/>
                  <a:pt x="50006" y="66675"/>
                </a:cubicBezTo>
                <a:close/>
                <a:moveTo>
                  <a:pt x="83344" y="60424"/>
                </a:moveTo>
                <a:cubicBezTo>
                  <a:pt x="83344" y="63874"/>
                  <a:pt x="80543" y="66675"/>
                  <a:pt x="77093" y="66675"/>
                </a:cubicBezTo>
                <a:cubicBezTo>
                  <a:pt x="73643" y="66675"/>
                  <a:pt x="70842" y="63874"/>
                  <a:pt x="70842" y="60424"/>
                </a:cubicBezTo>
                <a:cubicBezTo>
                  <a:pt x="70842" y="56974"/>
                  <a:pt x="73643" y="54173"/>
                  <a:pt x="77093" y="54173"/>
                </a:cubicBezTo>
                <a:cubicBezTo>
                  <a:pt x="80543" y="54173"/>
                  <a:pt x="83344" y="56974"/>
                  <a:pt x="83344" y="60424"/>
                </a:cubicBezTo>
                <a:close/>
                <a:moveTo>
                  <a:pt x="22920" y="91678"/>
                </a:moveTo>
                <a:cubicBezTo>
                  <a:pt x="19470" y="91678"/>
                  <a:pt x="16669" y="88877"/>
                  <a:pt x="16669" y="85427"/>
                </a:cubicBezTo>
                <a:cubicBezTo>
                  <a:pt x="16669" y="81977"/>
                  <a:pt x="19470" y="79177"/>
                  <a:pt x="22920" y="79177"/>
                </a:cubicBezTo>
                <a:cubicBezTo>
                  <a:pt x="26369" y="79177"/>
                  <a:pt x="29170" y="81977"/>
                  <a:pt x="29170" y="85427"/>
                </a:cubicBezTo>
                <a:cubicBezTo>
                  <a:pt x="29170" y="88877"/>
                  <a:pt x="26369" y="91678"/>
                  <a:pt x="22920" y="91678"/>
                </a:cubicBezTo>
                <a:close/>
                <a:moveTo>
                  <a:pt x="56257" y="85427"/>
                </a:moveTo>
                <a:cubicBezTo>
                  <a:pt x="56257" y="88877"/>
                  <a:pt x="53456" y="91678"/>
                  <a:pt x="50006" y="91678"/>
                </a:cubicBezTo>
                <a:cubicBezTo>
                  <a:pt x="46556" y="91678"/>
                  <a:pt x="43755" y="88877"/>
                  <a:pt x="43755" y="85427"/>
                </a:cubicBezTo>
                <a:cubicBezTo>
                  <a:pt x="43755" y="81977"/>
                  <a:pt x="46556" y="79177"/>
                  <a:pt x="50006" y="79177"/>
                </a:cubicBezTo>
                <a:cubicBezTo>
                  <a:pt x="53456" y="79177"/>
                  <a:pt x="56257" y="81977"/>
                  <a:pt x="56257" y="85427"/>
                </a:cubicBezTo>
                <a:close/>
                <a:moveTo>
                  <a:pt x="77093" y="91678"/>
                </a:moveTo>
                <a:cubicBezTo>
                  <a:pt x="73643" y="91678"/>
                  <a:pt x="70842" y="88877"/>
                  <a:pt x="70842" y="85427"/>
                </a:cubicBezTo>
                <a:cubicBezTo>
                  <a:pt x="70842" y="81977"/>
                  <a:pt x="73643" y="79177"/>
                  <a:pt x="77093" y="79177"/>
                </a:cubicBezTo>
                <a:cubicBezTo>
                  <a:pt x="80543" y="79177"/>
                  <a:pt x="83344" y="81977"/>
                  <a:pt x="83344" y="85427"/>
                </a:cubicBezTo>
                <a:cubicBezTo>
                  <a:pt x="83344" y="88877"/>
                  <a:pt x="80543" y="91678"/>
                  <a:pt x="77093" y="91678"/>
                </a:cubicBezTo>
                <a:close/>
                <a:moveTo>
                  <a:pt x="16669" y="110430"/>
                </a:moveTo>
                <a:cubicBezTo>
                  <a:pt x="16669" y="106966"/>
                  <a:pt x="19456" y="104180"/>
                  <a:pt x="22920" y="104180"/>
                </a:cubicBezTo>
                <a:lnTo>
                  <a:pt x="52090" y="104180"/>
                </a:lnTo>
                <a:cubicBezTo>
                  <a:pt x="55554" y="104180"/>
                  <a:pt x="58341" y="106966"/>
                  <a:pt x="58341" y="110430"/>
                </a:cubicBezTo>
                <a:cubicBezTo>
                  <a:pt x="58341" y="113894"/>
                  <a:pt x="55554" y="116681"/>
                  <a:pt x="52090" y="116681"/>
                </a:cubicBezTo>
                <a:lnTo>
                  <a:pt x="22920" y="116681"/>
                </a:lnTo>
                <a:cubicBezTo>
                  <a:pt x="19456" y="116681"/>
                  <a:pt x="16669" y="113894"/>
                  <a:pt x="16669" y="110430"/>
                </a:cubicBezTo>
                <a:close/>
                <a:moveTo>
                  <a:pt x="77093" y="104180"/>
                </a:moveTo>
                <a:cubicBezTo>
                  <a:pt x="80557" y="104180"/>
                  <a:pt x="83344" y="106966"/>
                  <a:pt x="83344" y="110430"/>
                </a:cubicBezTo>
                <a:cubicBezTo>
                  <a:pt x="83344" y="113894"/>
                  <a:pt x="80557" y="116681"/>
                  <a:pt x="77093" y="116681"/>
                </a:cubicBezTo>
                <a:cubicBezTo>
                  <a:pt x="73629" y="116681"/>
                  <a:pt x="70842" y="113894"/>
                  <a:pt x="70842" y="110430"/>
                </a:cubicBezTo>
                <a:cubicBezTo>
                  <a:pt x="70842" y="106966"/>
                  <a:pt x="73629" y="104180"/>
                  <a:pt x="77093" y="1041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666750" y="4295775"/>
            <a:ext cx="1109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ar-YE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          </a:t>
            </a:r>
            <a:r>
              <a:rPr lang="en-US" sz="1050" b="1" dirty="0" err="1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الخصائص</a:t>
            </a:r>
            <a:r>
              <a:rPr lang="ar-YE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</a:t>
            </a: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ρ = 1300 kg/m³ |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ηᵥ = 0.60 | 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 = 60 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mm.  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| D = 60 mm |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 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</a:t>
            </a:r>
            <a:r>
              <a:rPr lang="en-US" sz="788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16 mm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1000" y="4676775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3: Volumetric Calculation Results</a:t>
            </a: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حبر 24">
                <a:extLst>
                  <a:ext uri="{FF2B5EF4-FFF2-40B4-BE49-F238E27FC236}">
                    <a16:creationId xmlns:a16="http://schemas.microsoft.com/office/drawing/2014/main" id="{0AB12BF3-E306-2F0D-838F-AFB2184E586F}"/>
                  </a:ext>
                </a:extLst>
              </p14:cNvPr>
              <p14:cNvContentPartPr/>
              <p14:nvPr/>
            </p14:nvContentPartPr>
            <p14:xfrm>
              <a:off x="11570400" y="4381560"/>
              <a:ext cx="5760" cy="360"/>
            </p14:xfrm>
          </p:contentPart>
        </mc:Choice>
        <mc:Fallback xmlns="">
          <p:pic>
            <p:nvPicPr>
              <p:cNvPr id="25" name="حبر 24">
                <a:extLst>
                  <a:ext uri="{FF2B5EF4-FFF2-40B4-BE49-F238E27FC236}">
                    <a16:creationId xmlns:a16="http://schemas.microsoft.com/office/drawing/2014/main" id="{0AB12BF3-E306-2F0D-838F-AFB2184E58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61040" y="4372200"/>
                <a:ext cx="244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38955" y="371475"/>
            <a:ext cx="2863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5016" y="371475"/>
            <a:ext cx="804944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حسابات </a:t>
            </a:r>
            <a:r>
              <a:rPr lang="en-US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القوى</a:t>
            </a: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والعزوم (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Calculations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forces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and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moments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Force &amp; Torque Calculations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حسابات القوى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1295400"/>
          <a:ext cx="5600700" cy="1066800"/>
        </p:xfrm>
        <a:graphic>
          <a:graphicData uri="http://schemas.openxmlformats.org/drawingml/2006/table">
            <a:tbl>
              <a:tblPr/>
              <a:tblGrid>
                <a:gridCol w="3835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وزن المادة داخل اللولب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5.43 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معامل الاحتكاك (ملح-فولاذ)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μ = 0.40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القوة المحورية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2.17 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0300" y="25146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مكونات العزم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العزوم المحسوبة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828420"/>
              </p:ext>
            </p:extLst>
          </p:nvPr>
        </p:nvGraphicFramePr>
        <p:xfrm>
          <a:off x="381000" y="1295400"/>
          <a:ext cx="5600700" cy="2476502"/>
        </p:xfrm>
        <a:graphic>
          <a:graphicData uri="http://schemas.openxmlformats.org/drawingml/2006/table">
            <a:tbl>
              <a:tblPr/>
              <a:tblGrid>
                <a:gridCol w="4035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78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نوع العزم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عزم وزن المادة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محسوب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عزم مقاومة الدفع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محسوب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عزم الاحتكاك مع الجدار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محسوب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عزم الصحن الدوار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محسوب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العزم الكلي الخام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YE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0.378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78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العزم التصميمي (مع SF=2)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YE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</a:rPr>
                        <a:t>0.626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381000" y="3924300"/>
            <a:ext cx="5581650" cy="876300"/>
          </a:xfrm>
          <a:custGeom>
            <a:avLst/>
            <a:gdLst/>
            <a:ahLst/>
            <a:cxnLst/>
            <a:rect l="l" t="t" r="r" b="b"/>
            <a:pathLst>
              <a:path w="5581650" h="8763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838200"/>
                </a:lnTo>
                <a:cubicBezTo>
                  <a:pt x="5581650" y="859228"/>
                  <a:pt x="5564578" y="876300"/>
                  <a:pt x="5543550" y="876300"/>
                </a:cubicBezTo>
                <a:lnTo>
                  <a:pt x="38102" y="876300"/>
                </a:lnTo>
                <a:cubicBezTo>
                  <a:pt x="17059" y="876300"/>
                  <a:pt x="0" y="859241"/>
                  <a:pt x="0" y="8381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5962650" y="3924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838200"/>
                </a:lnTo>
                <a:cubicBezTo>
                  <a:pt x="38100" y="859228"/>
                  <a:pt x="21028" y="876300"/>
                  <a:pt x="0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7"/>
          <p:cNvSpPr/>
          <p:nvPr/>
        </p:nvSpPr>
        <p:spPr>
          <a:xfrm>
            <a:off x="4639568" y="4038600"/>
            <a:ext cx="12564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العزم المطلوب على المحرك: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52438" y="42291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motor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= T</a:t>
            </a: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/ (G × η)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95300" y="45339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 = نسبة التخفيض | η = كفاءة الجيربوكس</a:t>
            </a:r>
            <a:endParaRPr lang="en-US" sz="1600" dirty="0"/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681F374C-1E3F-CC14-6C18-325E81B6B5E4}"/>
              </a:ext>
            </a:extLst>
          </p:cNvPr>
          <p:cNvSpPr txBox="1"/>
          <p:nvPr/>
        </p:nvSpPr>
        <p:spPr>
          <a:xfrm>
            <a:off x="7094182" y="2933700"/>
            <a:ext cx="47168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YE" dirty="0"/>
              <a:t>عزم وزن المادة = 0.093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مقاومة الدفع المحوري = 0.028 </a:t>
            </a:r>
            <a:r>
              <a:rPr lang="ar-YE" dirty="0" err="1"/>
              <a:t>Nm</a:t>
            </a:r>
            <a:endParaRPr lang="ar-YE" dirty="0"/>
          </a:p>
          <a:p>
            <a:r>
              <a:rPr lang="ar-YE" dirty="0"/>
              <a:t>عزم القص الداخلي = 0.05 </a:t>
            </a:r>
            <a:r>
              <a:rPr lang="af-ZA" dirty="0"/>
              <a:t>Nm </a:t>
            </a:r>
            <a:endParaRPr lang="ar-YE" dirty="0"/>
          </a:p>
          <a:p>
            <a:r>
              <a:rPr lang="ar-YE" dirty="0"/>
              <a:t>عزم احتكاك الريشة مع الجدار = 0.015 </a:t>
            </a:r>
            <a:r>
              <a:rPr lang="ar-YE" dirty="0" err="1"/>
              <a:t>Nm</a:t>
            </a:r>
            <a:r>
              <a:rPr lang="ar-YE" dirty="0"/>
              <a:t> </a:t>
            </a:r>
          </a:p>
          <a:p>
            <a:r>
              <a:rPr lang="ar-YE" dirty="0"/>
              <a:t>عزم احتكاك المحامل = 0.002 </a:t>
            </a:r>
            <a:r>
              <a:rPr lang="af-ZA" dirty="0"/>
              <a:t>Nm </a:t>
            </a:r>
            <a:r>
              <a:rPr lang="ar-YE" dirty="0"/>
              <a:t> </a:t>
            </a:r>
          </a:p>
          <a:p>
            <a:r>
              <a:rPr lang="ar-YE" dirty="0"/>
              <a:t>عزم الصحن الدوار = 0.08</a:t>
            </a:r>
            <a:r>
              <a:rPr lang="af-ZA" dirty="0"/>
              <a:t>Nm</a:t>
            </a:r>
            <a:r>
              <a:rPr lang="ar-YE" dirty="0"/>
              <a:t>  </a:t>
            </a:r>
          </a:p>
          <a:p>
            <a:r>
              <a:rPr lang="ar-YE" dirty="0"/>
              <a:t>عزم القصور الذاتي للولب = 0.008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القصور الذاتي للمادة = 0.004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الطرد المركزي = 0.012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</a:t>
            </a:r>
            <a:r>
              <a:rPr lang="ar-YE" dirty="0" err="1"/>
              <a:t>الأهتزاز</a:t>
            </a:r>
            <a:r>
              <a:rPr lang="ar-YE" dirty="0"/>
              <a:t> /الارتجاج =0.006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خسارة التروس = </a:t>
            </a:r>
            <a:r>
              <a:rPr lang="af-ZA" dirty="0"/>
              <a:t>T_in × (1-n) </a:t>
            </a:r>
            <a:r>
              <a:rPr lang="ar-YE" dirty="0"/>
              <a:t> = متغير</a:t>
            </a:r>
          </a:p>
          <a:p>
            <a:r>
              <a:rPr lang="ar-YE" dirty="0"/>
              <a:t>عزم مقاومة الهواء = 0.001 </a:t>
            </a:r>
            <a:r>
              <a:rPr lang="af-ZA" dirty="0"/>
              <a:t>Nm</a:t>
            </a:r>
            <a:endParaRPr lang="ar-YE" dirty="0"/>
          </a:p>
          <a:p>
            <a:r>
              <a:rPr lang="ar-YE" dirty="0"/>
              <a:t>عزم خسارة الـوصلات(</a:t>
            </a:r>
            <a:r>
              <a:rPr lang="ar-YE" dirty="0" err="1"/>
              <a:t>coupling</a:t>
            </a:r>
            <a:r>
              <a:rPr lang="ar-YE" dirty="0"/>
              <a:t>)= </a:t>
            </a:r>
            <a:r>
              <a:rPr lang="af-ZA" dirty="0"/>
              <a:t> </a:t>
            </a:r>
            <a:r>
              <a:rPr lang="ar-YE" dirty="0"/>
              <a:t>0.003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642080" y="371475"/>
            <a:ext cx="283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09671" y="371475"/>
            <a:ext cx="21379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اختيار المحرك والجيربوكس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Motor &amp; Gearbox Selection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محرك السيرفو المختار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9825" y="1304925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8" y="0"/>
                </a:moveTo>
                <a:lnTo>
                  <a:pt x="5543542" y="0"/>
                </a:lnTo>
                <a:cubicBezTo>
                  <a:pt x="5564588" y="0"/>
                  <a:pt x="5581650" y="17062"/>
                  <a:pt x="5581650" y="38108"/>
                </a:cubicBezTo>
                <a:lnTo>
                  <a:pt x="5581650" y="1733542"/>
                </a:lnTo>
                <a:cubicBezTo>
                  <a:pt x="5581650" y="1754588"/>
                  <a:pt x="5564588" y="1771650"/>
                  <a:pt x="5543542" y="1771650"/>
                </a:cubicBezTo>
                <a:lnTo>
                  <a:pt x="38108" y="1771650"/>
                </a:lnTo>
                <a:cubicBezTo>
                  <a:pt x="17062" y="1771650"/>
                  <a:pt x="0" y="1754588"/>
                  <a:pt x="0" y="1733542"/>
                </a:cubicBezTo>
                <a:lnTo>
                  <a:pt x="0" y="38108"/>
                </a:lnTo>
                <a:cubicBezTo>
                  <a:pt x="0" y="17076"/>
                  <a:pt x="17076" y="0"/>
                  <a:pt x="3810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8888" y="1466850"/>
            <a:ext cx="534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Panasonic MSMF042L1U1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8413" y="180975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MINAS A6 Series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750" y="2114550"/>
          <a:ext cx="5257800" cy="800100"/>
        </p:xfrm>
        <a:graphic>
          <a:graphicData uri="http://schemas.openxmlformats.org/drawingml/2006/table">
            <a:tbl>
              <a:tblPr/>
              <a:tblGrid>
                <a:gridCol w="31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Rated Torque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 N·m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 Torque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 N·m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Rated Speed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3000 rpm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10300" y="32385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معايير الاختيار</a:t>
            </a:r>
            <a:endParaRPr lang="en-US" sz="1600" dirty="0"/>
          </a:p>
        </p:txBody>
      </p:sp>
      <p:sp>
        <p:nvSpPr>
          <p:cNvPr id="10" name="Shape 9"/>
          <p:cNvSpPr/>
          <p:nvPr/>
        </p:nvSpPr>
        <p:spPr>
          <a:xfrm>
            <a:off x="11663363" y="3638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750" y="36195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عزم ثابت عند السرعات المنخفضة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63363" y="3867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381750" y="38481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تحكم دقيق بالموضع والسرعة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663363" y="4095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1750" y="40767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استجابة ديناميكية عالية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663363" y="4324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381750" y="43053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Encoder عالي الدقة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الجيربوكس الكوكبي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90525" y="1304925"/>
            <a:ext cx="5581650" cy="1771650"/>
          </a:xfrm>
          <a:custGeom>
            <a:avLst/>
            <a:gdLst/>
            <a:ahLst/>
            <a:cxnLst/>
            <a:rect l="l" t="t" r="r" b="b"/>
            <a:pathLst>
              <a:path w="5581650" h="1771650">
                <a:moveTo>
                  <a:pt x="38108" y="0"/>
                </a:moveTo>
                <a:lnTo>
                  <a:pt x="5543542" y="0"/>
                </a:lnTo>
                <a:cubicBezTo>
                  <a:pt x="5564588" y="0"/>
                  <a:pt x="5581650" y="17062"/>
                  <a:pt x="5581650" y="38108"/>
                </a:cubicBezTo>
                <a:lnTo>
                  <a:pt x="5581650" y="1733542"/>
                </a:lnTo>
                <a:cubicBezTo>
                  <a:pt x="5581650" y="1754588"/>
                  <a:pt x="5564588" y="1771650"/>
                  <a:pt x="5543542" y="1771650"/>
                </a:cubicBezTo>
                <a:lnTo>
                  <a:pt x="38108" y="1771650"/>
                </a:lnTo>
                <a:cubicBezTo>
                  <a:pt x="17062" y="1771650"/>
                  <a:pt x="0" y="1754588"/>
                  <a:pt x="0" y="1733542"/>
                </a:cubicBezTo>
                <a:lnTo>
                  <a:pt x="0" y="38108"/>
                </a:lnTo>
                <a:cubicBezTo>
                  <a:pt x="0" y="17076"/>
                  <a:pt x="17076" y="0"/>
                  <a:pt x="38108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9587" y="1466850"/>
            <a:ext cx="534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Apex Dynamics AB060A-020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9113" y="180975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Planetary Gearbox</a:t>
            </a:r>
            <a:endParaRPr lang="en-US" sz="1600" dirty="0"/>
          </a:p>
        </p:txBody>
      </p:sp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2450" y="2114550"/>
          <a:ext cx="5257800" cy="800100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نسبة التخفيض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20:1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الكفاءة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&gt;95%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Backlash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5 arc-min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381000" y="32385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مطابقة العزم-السرعة</a:t>
            </a:r>
            <a:endParaRPr lang="en-US" sz="16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3619500"/>
          <a:ext cx="5600700" cy="1066800"/>
        </p:xfrm>
        <a:graphic>
          <a:graphicData uri="http://schemas.openxmlformats.org/drawingml/2006/table">
            <a:tbl>
              <a:tblPr/>
              <a:tblGrid>
                <a:gridCol w="2948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سرعة المحرك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2700 rpm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سرعة اللولب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135 rpm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هامش العزم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30%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81000" y="4838700"/>
            <a:ext cx="11430000" cy="419100"/>
          </a:xfrm>
          <a:custGeom>
            <a:avLst/>
            <a:gdLst/>
            <a:ahLst/>
            <a:cxnLst/>
            <a:rect l="l" t="t" r="r" b="b"/>
            <a:pathLst>
              <a:path w="11430000" h="4191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81000"/>
                </a:lnTo>
                <a:cubicBezTo>
                  <a:pt x="11430000" y="402042"/>
                  <a:pt x="11412942" y="419100"/>
                  <a:pt x="11391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Shape 23"/>
          <p:cNvSpPr/>
          <p:nvPr/>
        </p:nvSpPr>
        <p:spPr>
          <a:xfrm>
            <a:off x="7988945" y="49720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633413" y="4953000"/>
            <a:ext cx="1109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استراتيجية التحكم: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Position Control Mode - التحكم بعدد الدورات = التحكم بالجرعة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54569" y="371475"/>
            <a:ext cx="3707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34798" y="371475"/>
            <a:ext cx="22252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التحليل الإنشائي - اللولب فقط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FEA Analysis - Auger Only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إعدادات التحليل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1724025"/>
          </a:xfrm>
          <a:custGeom>
            <a:avLst/>
            <a:gdLst/>
            <a:ahLst/>
            <a:cxnLst/>
            <a:rect l="l" t="t" r="r" b="b"/>
            <a:pathLst>
              <a:path w="5600700" h="1724025">
                <a:moveTo>
                  <a:pt x="38101" y="0"/>
                </a:moveTo>
                <a:lnTo>
                  <a:pt x="5562599" y="0"/>
                </a:lnTo>
                <a:cubicBezTo>
                  <a:pt x="5583642" y="0"/>
                  <a:pt x="5600700" y="17058"/>
                  <a:pt x="5600700" y="38101"/>
                </a:cubicBezTo>
                <a:lnTo>
                  <a:pt x="5600700" y="1685924"/>
                </a:lnTo>
                <a:cubicBezTo>
                  <a:pt x="5600700" y="1706967"/>
                  <a:pt x="5583642" y="1724025"/>
                  <a:pt x="5562599" y="1724025"/>
                </a:cubicBezTo>
                <a:lnTo>
                  <a:pt x="38101" y="1724025"/>
                </a:lnTo>
                <a:cubicBezTo>
                  <a:pt x="17058" y="1724025"/>
                  <a:pt x="0" y="1706967"/>
                  <a:pt x="0" y="16859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2700" y="1447800"/>
          <a:ext cx="5295900" cy="1419224"/>
        </p:xfrm>
        <a:graphic>
          <a:graphicData uri="http://schemas.openxmlformats.org/drawingml/2006/table">
            <a:tbl>
              <a:tblPr/>
              <a:tblGrid>
                <a:gridCol w="162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3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نوع التحليل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 Structural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البرنامج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SolidWorks Simulation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المادة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AISI 304 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حد الخضوع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207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0300" y="3171825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الأحمال والشروط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63363" y="3571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381750" y="35528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عزم دوران: T = عزم التصميم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663363" y="3800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10"/>
          <p:cNvSpPr/>
          <p:nvPr/>
        </p:nvSpPr>
        <p:spPr>
          <a:xfrm>
            <a:off x="6381750" y="37814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تثبيت: Moment Fixed Support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63363" y="4029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60789"/>
                </a:moveTo>
                <a:cubicBezTo>
                  <a:pt x="-807" y="64044"/>
                  <a:pt x="-807" y="69332"/>
                  <a:pt x="2448" y="72587"/>
                </a:cubicBezTo>
                <a:lnTo>
                  <a:pt x="44120" y="114259"/>
                </a:lnTo>
                <a:cubicBezTo>
                  <a:pt x="47376" y="117515"/>
                  <a:pt x="52663" y="117515"/>
                  <a:pt x="55918" y="114259"/>
                </a:cubicBezTo>
                <a:cubicBezTo>
                  <a:pt x="59174" y="111003"/>
                  <a:pt x="59174" y="105716"/>
                  <a:pt x="55918" y="102461"/>
                </a:cubicBezTo>
                <a:lnTo>
                  <a:pt x="28467" y="75009"/>
                </a:ln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28467" y="58341"/>
                </a:lnTo>
                <a:lnTo>
                  <a:pt x="55918" y="30889"/>
                </a:lnTo>
                <a:cubicBezTo>
                  <a:pt x="59174" y="27634"/>
                  <a:pt x="59174" y="22347"/>
                  <a:pt x="55918" y="19091"/>
                </a:cubicBezTo>
                <a:cubicBezTo>
                  <a:pt x="52663" y="15835"/>
                  <a:pt x="47376" y="15835"/>
                  <a:pt x="44120" y="19091"/>
                </a:cubicBezTo>
                <a:lnTo>
                  <a:pt x="2448" y="607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381750" y="4010025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شبكة: Patch Independent Tetrahedral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النتائج الرئيسية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1295400"/>
            <a:ext cx="5600700" cy="1724025"/>
          </a:xfrm>
          <a:custGeom>
            <a:avLst/>
            <a:gdLst/>
            <a:ahLst/>
            <a:cxnLst/>
            <a:rect l="l" t="t" r="r" b="b"/>
            <a:pathLst>
              <a:path w="5600700" h="1724025">
                <a:moveTo>
                  <a:pt x="38101" y="0"/>
                </a:moveTo>
                <a:lnTo>
                  <a:pt x="5562599" y="0"/>
                </a:lnTo>
                <a:cubicBezTo>
                  <a:pt x="5583642" y="0"/>
                  <a:pt x="5600700" y="17058"/>
                  <a:pt x="5600700" y="38101"/>
                </a:cubicBezTo>
                <a:lnTo>
                  <a:pt x="5600700" y="1685924"/>
                </a:lnTo>
                <a:cubicBezTo>
                  <a:pt x="5600700" y="1706967"/>
                  <a:pt x="5583642" y="1724025"/>
                  <a:pt x="5562599" y="1724025"/>
                </a:cubicBezTo>
                <a:lnTo>
                  <a:pt x="38101" y="1724025"/>
                </a:lnTo>
                <a:cubicBezTo>
                  <a:pt x="17058" y="1724025"/>
                  <a:pt x="0" y="1706967"/>
                  <a:pt x="0" y="1685924"/>
                </a:cubicBezTo>
                <a:lnTo>
                  <a:pt x="0" y="38101"/>
                </a:lnTo>
                <a:cubicBezTo>
                  <a:pt x="0" y="17058"/>
                  <a:pt x="17058" y="0"/>
                  <a:pt x="38101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447800"/>
          <a:ext cx="5295900" cy="1419224"/>
        </p:xfrm>
        <a:graphic>
          <a:graphicData uri="http://schemas.openxmlformats.org/drawingml/2006/table">
            <a:tbl>
              <a:tblPr/>
              <a:tblGrid>
                <a:gridCol w="3454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المعامل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أقصى إجهاد (Von Mises)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~137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أقصى تشوه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~0.095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معامل الأمان الأدنى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381000" y="3171825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0" name="Shape 16"/>
          <p:cNvSpPr/>
          <p:nvPr/>
        </p:nvSpPr>
        <p:spPr>
          <a:xfrm>
            <a:off x="5962650" y="31718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1" name="Shape 17"/>
          <p:cNvSpPr/>
          <p:nvPr/>
        </p:nvSpPr>
        <p:spPr>
          <a:xfrm>
            <a:off x="5681663" y="3305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2" name="Text 18"/>
          <p:cNvSpPr/>
          <p:nvPr/>
        </p:nvSpPr>
        <p:spPr>
          <a:xfrm>
            <a:off x="666750" y="328612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النتيجة: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الإجهاد الأقصى &lt; حد الخضوع | التصميم آمن إنشائياً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1689556" y="4362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4288" y="7144"/>
                </a:moveTo>
                <a:cubicBezTo>
                  <a:pt x="6407" y="7144"/>
                  <a:pt x="0" y="13551"/>
                  <a:pt x="0" y="21431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21431"/>
                </a:lnTo>
                <a:cubicBezTo>
                  <a:pt x="100013" y="13551"/>
                  <a:pt x="93605" y="7144"/>
                  <a:pt x="85725" y="7144"/>
                </a:cubicBezTo>
                <a:lnTo>
                  <a:pt x="14288" y="7144"/>
                </a:lnTo>
                <a:close/>
                <a:moveTo>
                  <a:pt x="28575" y="25003"/>
                </a:moveTo>
                <a:cubicBezTo>
                  <a:pt x="34489" y="25003"/>
                  <a:pt x="39291" y="29805"/>
                  <a:pt x="39291" y="35719"/>
                </a:cubicBezTo>
                <a:cubicBezTo>
                  <a:pt x="39291" y="41633"/>
                  <a:pt x="34489" y="46434"/>
                  <a:pt x="28575" y="46434"/>
                </a:cubicBezTo>
                <a:cubicBezTo>
                  <a:pt x="22661" y="46434"/>
                  <a:pt x="17859" y="41633"/>
                  <a:pt x="17859" y="35719"/>
                </a:cubicBezTo>
                <a:cubicBezTo>
                  <a:pt x="17859" y="29805"/>
                  <a:pt x="22661" y="25003"/>
                  <a:pt x="28575" y="25003"/>
                </a:cubicBezTo>
                <a:close/>
                <a:moveTo>
                  <a:pt x="60722" y="50006"/>
                </a:moveTo>
                <a:cubicBezTo>
                  <a:pt x="62597" y="50006"/>
                  <a:pt x="64316" y="50989"/>
                  <a:pt x="65298" y="52574"/>
                </a:cubicBezTo>
                <a:lnTo>
                  <a:pt x="84944" y="84720"/>
                </a:lnTo>
                <a:cubicBezTo>
                  <a:pt x="85948" y="86372"/>
                  <a:pt x="85993" y="88449"/>
                  <a:pt x="85055" y="90145"/>
                </a:cubicBezTo>
                <a:cubicBezTo>
                  <a:pt x="84118" y="91842"/>
                  <a:pt x="82309" y="92869"/>
                  <a:pt x="80367" y="92869"/>
                </a:cubicBezTo>
                <a:lnTo>
                  <a:pt x="19645" y="92869"/>
                </a:lnTo>
                <a:cubicBezTo>
                  <a:pt x="17658" y="92869"/>
                  <a:pt x="15806" y="91753"/>
                  <a:pt x="14890" y="89989"/>
                </a:cubicBezTo>
                <a:cubicBezTo>
                  <a:pt x="13975" y="88225"/>
                  <a:pt x="14109" y="86082"/>
                  <a:pt x="15247" y="84453"/>
                </a:cubicBezTo>
                <a:lnTo>
                  <a:pt x="27749" y="66593"/>
                </a:lnTo>
                <a:cubicBezTo>
                  <a:pt x="28754" y="65164"/>
                  <a:pt x="30383" y="64316"/>
                  <a:pt x="32147" y="64316"/>
                </a:cubicBezTo>
                <a:cubicBezTo>
                  <a:pt x="33910" y="64316"/>
                  <a:pt x="35540" y="65164"/>
                  <a:pt x="36545" y="66593"/>
                </a:cubicBezTo>
                <a:lnTo>
                  <a:pt x="42438" y="75032"/>
                </a:lnTo>
                <a:lnTo>
                  <a:pt x="56145" y="52596"/>
                </a:lnTo>
                <a:cubicBezTo>
                  <a:pt x="57128" y="51011"/>
                  <a:pt x="58847" y="50029"/>
                  <a:pt x="60722" y="50029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" name="Text 20"/>
          <p:cNvSpPr/>
          <p:nvPr/>
        </p:nvSpPr>
        <p:spPr>
          <a:xfrm>
            <a:off x="523875" y="4352925"/>
            <a:ext cx="1134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Figure 3: [Place for FEA Results Image - Von Mises Stress Plot]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97729" y="371475"/>
            <a:ext cx="3275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29437" y="371475"/>
            <a:ext cx="7673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التحليل الإنشائي - </a:t>
            </a:r>
            <a:r>
              <a:rPr lang="en-US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التجميع</a:t>
            </a: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الكامل (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Structural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–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</a:t>
            </a:r>
            <a:r>
              <a:rPr lang="ar-YE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80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Assembly</a:t>
            </a:r>
            <a:r>
              <a:rPr lang="ar-YE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)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FEA - Full Assembly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الأحمال المجمعة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38098" y="0"/>
                </a:moveTo>
                <a:lnTo>
                  <a:pt x="5562602" y="0"/>
                </a:lnTo>
                <a:cubicBezTo>
                  <a:pt x="5583629" y="0"/>
                  <a:pt x="5600700" y="17071"/>
                  <a:pt x="5600700" y="38098"/>
                </a:cubicBezTo>
                <a:lnTo>
                  <a:pt x="5600700" y="1257302"/>
                </a:lnTo>
                <a:cubicBezTo>
                  <a:pt x="5600700" y="1278343"/>
                  <a:pt x="5583643" y="1295400"/>
                  <a:pt x="5562602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11596688" y="1524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38900" y="14478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عزم الدوران الكامل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596688" y="17907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38900" y="17145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وزن اللولب + العمود + الصحن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96688" y="2057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38900" y="19812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مساهمة الصحن الدوار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596688" y="23241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12804"/>
                  <a:pt x="12804" y="0"/>
                  <a:pt x="28575" y="0"/>
                </a:cubicBezTo>
                <a:cubicBezTo>
                  <a:pt x="44346" y="0"/>
                  <a:pt x="57150" y="12804"/>
                  <a:pt x="57150" y="28575"/>
                </a:cubicBezTo>
                <a:cubicBezTo>
                  <a:pt x="57150" y="44346"/>
                  <a:pt x="44346" y="57150"/>
                  <a:pt x="28575" y="57150"/>
                </a:cubicBezTo>
                <a:cubicBezTo>
                  <a:pt x="12804" y="57150"/>
                  <a:pt x="0" y="44346"/>
                  <a:pt x="0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900" y="224790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سيناريو أسوأ حالة (Worst-Case)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0300" y="27432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نتائج التحليل النهائي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3124200"/>
          <a:ext cx="5600700" cy="1419224"/>
        </p:xfrm>
        <a:graphic>
          <a:graphicData uri="http://schemas.openxmlformats.org/drawingml/2006/table">
            <a:tbl>
              <a:tblPr/>
              <a:tblGrid>
                <a:gridCol w="3539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المعامل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القيمة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أقصى إجهاد (Von Mises)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~91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أقصى تشوه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~0.0021 mm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معامل الأمان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~2.28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مقارنة التحليلات</a:t>
            </a:r>
            <a:endParaRPr lang="en-US" sz="16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295400"/>
          <a:ext cx="5600699" cy="1419224"/>
        </p:xfrm>
        <a:graphic>
          <a:graphicData uri="http://schemas.openxmlformats.org/drawingml/2006/table">
            <a:tbl>
              <a:tblPr/>
              <a:tblGrid>
                <a:gridCol w="295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806">
                <a:tc>
                  <a:txBody>
                    <a:bodyPr/>
                    <a:lstStyle/>
                    <a:p>
                      <a:pPr algn="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الحالة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 Stress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SF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Auger فقط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~137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~1.5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Auger + Shaft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~127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~1.6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Auger + Shaft + Plate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~91 MPa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~2.28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81000" y="2867025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ar-YE"/>
          </a:p>
        </p:txBody>
      </p:sp>
      <p:sp>
        <p:nvSpPr>
          <p:cNvPr id="21" name="Shape 17"/>
          <p:cNvSpPr/>
          <p:nvPr/>
        </p:nvSpPr>
        <p:spPr>
          <a:xfrm>
            <a:off x="323850" y="2871264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18"/>
          <p:cNvSpPr/>
          <p:nvPr/>
        </p:nvSpPr>
        <p:spPr>
          <a:xfrm>
            <a:off x="509587" y="30099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38100" y="2828924"/>
            <a:ext cx="5857875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2" algn="l" rtl="0">
              <a:lnSpc>
                <a:spcPct val="120000"/>
              </a:lnSpc>
            </a:pP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Note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Adding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rotating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plate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did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weaken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but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rather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improved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distribution</a:t>
            </a:r>
            <a:r>
              <a:rPr lang="ar-YE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81000" y="4695825"/>
            <a:ext cx="11410950" cy="419100"/>
          </a:xfrm>
          <a:custGeom>
            <a:avLst/>
            <a:gdLst/>
            <a:ahLst/>
            <a:cxnLst/>
            <a:rect l="l" t="t" r="r" b="b"/>
            <a:pathLst>
              <a:path w="11410950" h="419100">
                <a:moveTo>
                  <a:pt x="38100" y="0"/>
                </a:moveTo>
                <a:lnTo>
                  <a:pt x="11372850" y="0"/>
                </a:lnTo>
                <a:cubicBezTo>
                  <a:pt x="11393892" y="0"/>
                  <a:pt x="11410950" y="17058"/>
                  <a:pt x="11410950" y="38100"/>
                </a:cubicBezTo>
                <a:lnTo>
                  <a:pt x="11410950" y="381000"/>
                </a:lnTo>
                <a:cubicBezTo>
                  <a:pt x="11410950" y="402042"/>
                  <a:pt x="11393892" y="419100"/>
                  <a:pt x="113728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5" name="Shape 21"/>
          <p:cNvSpPr/>
          <p:nvPr/>
        </p:nvSpPr>
        <p:spPr>
          <a:xfrm>
            <a:off x="361950" y="46958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Shape 22"/>
          <p:cNvSpPr/>
          <p:nvPr/>
        </p:nvSpPr>
        <p:spPr>
          <a:xfrm>
            <a:off x="666750" y="4838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19" name="Text 23"/>
          <p:cNvSpPr/>
          <p:nvPr/>
        </p:nvSpPr>
        <p:spPr>
          <a:xfrm>
            <a:off x="666750" y="4810125"/>
            <a:ext cx="1105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l" rtl="0">
              <a:lnSpc>
                <a:spcPct val="120000"/>
              </a:lnSpc>
            </a:pP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Summary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stresses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are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well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below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yield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strength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|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Safety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factor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excellent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|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is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operationally</a:t>
            </a:r>
            <a:r>
              <a:rPr lang="ar-YE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b="1" dirty="0" err="1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qualified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68410" y="371475"/>
            <a:ext cx="3568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12.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30964" y="371475"/>
            <a:ext cx="31429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المحاكاة الحركية (Motion Analysis)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Motion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إعداد المحاكاة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38103" y="0"/>
                </a:moveTo>
                <a:lnTo>
                  <a:pt x="5562597" y="0"/>
                </a:lnTo>
                <a:cubicBezTo>
                  <a:pt x="5583641" y="0"/>
                  <a:pt x="5600700" y="17059"/>
                  <a:pt x="5600700" y="38103"/>
                </a:cubicBezTo>
                <a:lnTo>
                  <a:pt x="5600700" y="1333497"/>
                </a:lnTo>
                <a:cubicBezTo>
                  <a:pt x="5600700" y="1354541"/>
                  <a:pt x="5583641" y="1371600"/>
                  <a:pt x="5562597" y="1371600"/>
                </a:cubicBezTo>
                <a:lnTo>
                  <a:pt x="38103" y="1371600"/>
                </a:lnTo>
                <a:cubicBezTo>
                  <a:pt x="17059" y="1371600"/>
                  <a:pt x="0" y="1354541"/>
                  <a:pt x="0" y="13334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2700" y="1447800"/>
          <a:ext cx="5295900" cy="1066800"/>
        </p:xfrm>
        <a:graphic>
          <a:graphicData uri="http://schemas.openxmlformats.org/drawingml/2006/table">
            <a:tbl>
              <a:tblPr/>
              <a:tblGrid>
                <a:gridCol w="2127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البرنامج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SolidWorks Motion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نوع الدراسة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Motion Analysis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الأجسام المشاركة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Components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0300" y="2819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منطق الدوران المتعاكس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0300" y="3200400"/>
            <a:ext cx="5600700" cy="1600200"/>
          </a:xfrm>
          <a:custGeom>
            <a:avLst/>
            <a:gdLst/>
            <a:ahLst/>
            <a:cxnLst/>
            <a:rect l="l" t="t" r="r" b="b"/>
            <a:pathLst>
              <a:path w="5600700" h="1600200">
                <a:moveTo>
                  <a:pt x="38101" y="0"/>
                </a:moveTo>
                <a:lnTo>
                  <a:pt x="5562599" y="0"/>
                </a:lnTo>
                <a:cubicBezTo>
                  <a:pt x="5583642" y="0"/>
                  <a:pt x="5600700" y="17058"/>
                  <a:pt x="5600700" y="38101"/>
                </a:cubicBezTo>
                <a:lnTo>
                  <a:pt x="5600700" y="1562099"/>
                </a:lnTo>
                <a:cubicBezTo>
                  <a:pt x="5600700" y="1583142"/>
                  <a:pt x="5583642" y="1600200"/>
                  <a:pt x="5562599" y="1600200"/>
                </a:cubicBezTo>
                <a:lnTo>
                  <a:pt x="38101" y="1600200"/>
                </a:lnTo>
                <a:cubicBezTo>
                  <a:pt x="17058" y="1600200"/>
                  <a:pt x="0" y="1583142"/>
                  <a:pt x="0" y="15620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ar-YE" dirty="0"/>
          </a:p>
        </p:txBody>
      </p:sp>
      <p:sp>
        <p:nvSpPr>
          <p:cNvPr id="11" name="Shape 8"/>
          <p:cNvSpPr/>
          <p:nvPr/>
        </p:nvSpPr>
        <p:spPr>
          <a:xfrm>
            <a:off x="11049000" y="335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11277600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015663" y="4038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اللولب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020425" y="422910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~135 RPM</a:t>
            </a:r>
            <a:endParaRPr lang="en-US" sz="1600" dirty="0"/>
          </a:p>
        </p:txBody>
      </p:sp>
      <p:sp>
        <p:nvSpPr>
          <p:cNvPr id="8" name="Text 12"/>
          <p:cNvSpPr/>
          <p:nvPr/>
        </p:nvSpPr>
        <p:spPr>
          <a:xfrm>
            <a:off x="8896350" y="37147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↔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62700" y="335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7" name="Shape 14"/>
          <p:cNvSpPr/>
          <p:nvPr/>
        </p:nvSpPr>
        <p:spPr>
          <a:xfrm rot="10800000">
            <a:off x="65532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329363" y="40386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الشفرات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34125" y="422910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ar-YE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60 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RPM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34125" y="4495800"/>
            <a:ext cx="535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عزل </a:t>
            </a:r>
            <a:r>
              <a:rPr lang="en-US" sz="900" dirty="0" err="1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كامل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باستخدام</a:t>
            </a:r>
            <a:r>
              <a:rPr lang="ar-YE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900" dirty="0" err="1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Bearings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النتائج والملاحظات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1000" y="12954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3" name="Shape 20"/>
          <p:cNvSpPr/>
          <p:nvPr/>
        </p:nvSpPr>
        <p:spPr>
          <a:xfrm>
            <a:off x="5962650" y="12954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4" name="Shape 21"/>
          <p:cNvSpPr/>
          <p:nvPr/>
        </p:nvSpPr>
        <p:spPr>
          <a:xfrm>
            <a:off x="5681663" y="1428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5" name="Text 22"/>
          <p:cNvSpPr/>
          <p:nvPr/>
        </p:nvSpPr>
        <p:spPr>
          <a:xfrm>
            <a:off x="666750" y="14097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استقرار الحركة: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وصول سريع للحالة المستقرة بدون تذبذب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1000" y="18288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27" name="Shape 24"/>
          <p:cNvSpPr/>
          <p:nvPr/>
        </p:nvSpPr>
        <p:spPr>
          <a:xfrm>
            <a:off x="5962650" y="18288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8" name="Shape 25"/>
          <p:cNvSpPr/>
          <p:nvPr/>
        </p:nvSpPr>
        <p:spPr>
          <a:xfrm>
            <a:off x="5681663" y="1962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9" name="Text 26"/>
          <p:cNvSpPr/>
          <p:nvPr/>
        </p:nvSpPr>
        <p:spPr>
          <a:xfrm>
            <a:off x="666750" y="19431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التزامن: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الصحن الدوار متزامن تماماً مع اللولب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81000" y="23622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1" name="Shape 28"/>
          <p:cNvSpPr/>
          <p:nvPr/>
        </p:nvSpPr>
        <p:spPr>
          <a:xfrm>
            <a:off x="5962650" y="23622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2" name="Shape 29"/>
          <p:cNvSpPr/>
          <p:nvPr/>
        </p:nvSpPr>
        <p:spPr>
          <a:xfrm>
            <a:off x="5681663" y="2495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3" name="Text 30"/>
          <p:cNvSpPr/>
          <p:nvPr/>
        </p:nvSpPr>
        <p:spPr>
          <a:xfrm>
            <a:off x="666750" y="24765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لا تعارض: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لا وجود لـ Interference أو Collision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81000" y="28956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35" name="Shape 32"/>
          <p:cNvSpPr/>
          <p:nvPr/>
        </p:nvSpPr>
        <p:spPr>
          <a:xfrm>
            <a:off x="5962650" y="2895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6" name="Shape 33"/>
          <p:cNvSpPr/>
          <p:nvPr/>
        </p:nvSpPr>
        <p:spPr>
          <a:xfrm>
            <a:off x="5681663" y="3028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7" name="Text 34"/>
          <p:cNvSpPr/>
          <p:nvPr/>
        </p:nvSpPr>
        <p:spPr>
          <a:xfrm>
            <a:off x="666750" y="30099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انتقال العزم: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سليم بدون فقد أو تشوه حركي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81000" y="3467100"/>
            <a:ext cx="5600700" cy="419100"/>
          </a:xfrm>
          <a:custGeom>
            <a:avLst/>
            <a:gdLst/>
            <a:ahLst/>
            <a:cxnLst/>
            <a:rect l="l" t="t" r="r" b="b"/>
            <a:pathLst>
              <a:path w="5600700" h="41910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81000"/>
                </a:lnTo>
                <a:cubicBezTo>
                  <a:pt x="5600700" y="402042"/>
                  <a:pt x="5583642" y="419100"/>
                  <a:pt x="55626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ar-YE" dirty="0"/>
          </a:p>
        </p:txBody>
      </p:sp>
      <p:sp>
        <p:nvSpPr>
          <p:cNvPr id="39" name="Shape 36"/>
          <p:cNvSpPr/>
          <p:nvPr/>
        </p:nvSpPr>
        <p:spPr>
          <a:xfrm>
            <a:off x="5703094" y="36004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666750" y="35814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التحقق: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التصميم قابل للتشغيل الواقعي | 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كما تم عمل شبه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</a:t>
            </a:r>
            <a:r>
              <a:rPr lang="en-US" sz="1050" dirty="0" err="1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حاكاة</a:t>
            </a:r>
            <a:r>
              <a:rPr lang="ar-YE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r>
              <a:rPr lang="en-US" sz="10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83144" y="371475"/>
            <a:ext cx="3421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13.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59082" y="371475"/>
            <a:ext cx="2029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تطور التصميم والتحسينات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Evolution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المشكلات المُحدَّدة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11791950" y="12954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Shape 7"/>
          <p:cNvSpPr/>
          <p:nvPr/>
        </p:nvSpPr>
        <p:spPr>
          <a:xfrm>
            <a:off x="11510963" y="1428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9F0712"/>
          </a:solidFill>
          <a:ln/>
        </p:spPr>
      </p:sp>
      <p:sp>
        <p:nvSpPr>
          <p:cNvPr id="10" name="Text 8"/>
          <p:cNvSpPr/>
          <p:nvPr/>
        </p:nvSpPr>
        <p:spPr>
          <a:xfrm>
            <a:off x="6496050" y="14097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تدفق المادة:</a:t>
            </a:r>
            <a:r>
              <a:rPr lang="en-US" sz="1050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عدم انتظام الخروج عند التوقف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7907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11791950" y="17907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10963" y="1924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9F07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050" y="19050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تقدير العزم:</a:t>
            </a:r>
            <a:r>
              <a:rPr lang="en-US" sz="1050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حسابات أولية ناقصة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300" y="22860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91950" y="22860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10963" y="2419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9F071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6050" y="24003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السلامة الإنشائية:</a:t>
            </a:r>
            <a:r>
              <a:rPr lang="en-US" sz="1050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مناطق تركيز إجهاد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0" y="27813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91950" y="27813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510963" y="2914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9F071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6050" y="28956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التجميع:</a:t>
            </a:r>
            <a:r>
              <a:rPr lang="en-US" sz="1050" dirty="0">
                <a:solidFill>
                  <a:srgbClr val="9F0712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تعقيد في الفك والتركيب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التحسينات المُنفَّذة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12954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62650" y="12954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9997" y="1428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7" name="Text 25"/>
          <p:cNvSpPr/>
          <p:nvPr/>
        </p:nvSpPr>
        <p:spPr>
          <a:xfrm>
            <a:off x="666750" y="14097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إضافة الصحن الدوار: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للتحكم في التدفق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17907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5962650" y="17907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9997" y="1924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1" name="Text 29"/>
          <p:cNvSpPr/>
          <p:nvPr/>
        </p:nvSpPr>
        <p:spPr>
          <a:xfrm>
            <a:off x="666750" y="19050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إعادة حساب العزوم: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بشكل شامل ودقيق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22860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3" name="Shape 31"/>
          <p:cNvSpPr/>
          <p:nvPr/>
        </p:nvSpPr>
        <p:spPr>
          <a:xfrm>
            <a:off x="5962650" y="22860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4" name="Shape 32"/>
          <p:cNvSpPr/>
          <p:nvPr/>
        </p:nvSpPr>
        <p:spPr>
          <a:xfrm>
            <a:off x="5689997" y="2419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5" name="Text 33"/>
          <p:cNvSpPr/>
          <p:nvPr/>
        </p:nvSpPr>
        <p:spPr>
          <a:xfrm>
            <a:off x="666750" y="24003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تحسين الفلّيات: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تقليل تركيز الإجهاد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27813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37" name="Shape 35"/>
          <p:cNvSpPr/>
          <p:nvPr/>
        </p:nvSpPr>
        <p:spPr>
          <a:xfrm>
            <a:off x="5962650" y="27813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8" name="Shape 36"/>
          <p:cNvSpPr/>
          <p:nvPr/>
        </p:nvSpPr>
        <p:spPr>
          <a:xfrm>
            <a:off x="5689997" y="2914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9" name="Text 37"/>
          <p:cNvSpPr/>
          <p:nvPr/>
        </p:nvSpPr>
        <p:spPr>
          <a:xfrm>
            <a:off x="666750" y="28956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وصلة J-Slot: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فك وتركيب سريع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3276600"/>
            <a:ext cx="5581650" cy="419100"/>
          </a:xfrm>
          <a:custGeom>
            <a:avLst/>
            <a:gdLst/>
            <a:ahLst/>
            <a:cxnLst/>
            <a:rect l="l" t="t" r="r" b="b"/>
            <a:pathLst>
              <a:path w="5581650" h="4191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81000"/>
                </a:lnTo>
                <a:cubicBezTo>
                  <a:pt x="5581650" y="402042"/>
                  <a:pt x="5564592" y="419100"/>
                  <a:pt x="5543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41" name="Shape 39"/>
          <p:cNvSpPr/>
          <p:nvPr/>
        </p:nvSpPr>
        <p:spPr>
          <a:xfrm>
            <a:off x="5962650" y="3276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81000"/>
                </a:lnTo>
                <a:cubicBezTo>
                  <a:pt x="38100" y="402028"/>
                  <a:pt x="21028" y="419100"/>
                  <a:pt x="0" y="419100"/>
                </a:cubicBez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2" name="Shape 40"/>
          <p:cNvSpPr/>
          <p:nvPr/>
        </p:nvSpPr>
        <p:spPr>
          <a:xfrm>
            <a:off x="5689997" y="3409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43" name="Text 41"/>
          <p:cNvSpPr/>
          <p:nvPr/>
        </p:nvSpPr>
        <p:spPr>
          <a:xfrm>
            <a:off x="666750" y="339090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منظومة Bearings: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عزل حركي كامل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3924300"/>
            <a:ext cx="11430000" cy="1543050"/>
          </a:xfrm>
          <a:custGeom>
            <a:avLst/>
            <a:gdLst/>
            <a:ahLst/>
            <a:cxnLst/>
            <a:rect l="l" t="t" r="r" b="b"/>
            <a:pathLst>
              <a:path w="11430000" h="1543050">
                <a:moveTo>
                  <a:pt x="38098" y="0"/>
                </a:moveTo>
                <a:lnTo>
                  <a:pt x="11391902" y="0"/>
                </a:lnTo>
                <a:cubicBezTo>
                  <a:pt x="11412943" y="0"/>
                  <a:pt x="11430000" y="17057"/>
                  <a:pt x="11430000" y="38098"/>
                </a:cubicBezTo>
                <a:lnTo>
                  <a:pt x="11430000" y="1504952"/>
                </a:lnTo>
                <a:cubicBezTo>
                  <a:pt x="11430000" y="1525993"/>
                  <a:pt x="11412943" y="1543050"/>
                  <a:pt x="11391902" y="1543050"/>
                </a:cubicBezTo>
                <a:lnTo>
                  <a:pt x="38098" y="1543050"/>
                </a:lnTo>
                <a:cubicBezTo>
                  <a:pt x="17057" y="1543050"/>
                  <a:pt x="0" y="1525993"/>
                  <a:pt x="0" y="150495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533400" y="4076700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التصميم النهائي - المبررات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96363" y="4424363"/>
            <a:ext cx="2657475" cy="885825"/>
          </a:xfrm>
          <a:custGeom>
            <a:avLst/>
            <a:gdLst/>
            <a:ahLst/>
            <a:cxnLst/>
            <a:rect l="l" t="t" r="r" b="b"/>
            <a:pathLst>
              <a:path w="2657475" h="885825">
                <a:moveTo>
                  <a:pt x="38099" y="0"/>
                </a:moveTo>
                <a:lnTo>
                  <a:pt x="2619376" y="0"/>
                </a:lnTo>
                <a:cubicBezTo>
                  <a:pt x="2640417" y="0"/>
                  <a:pt x="2657475" y="17058"/>
                  <a:pt x="2657475" y="38099"/>
                </a:cubicBezTo>
                <a:lnTo>
                  <a:pt x="2657475" y="847726"/>
                </a:lnTo>
                <a:cubicBezTo>
                  <a:pt x="2657475" y="868767"/>
                  <a:pt x="2640417" y="885825"/>
                  <a:pt x="2619376" y="885825"/>
                </a:cubicBezTo>
                <a:lnTo>
                  <a:pt x="38099" y="885825"/>
                </a:lnTo>
                <a:cubicBezTo>
                  <a:pt x="17058" y="885825"/>
                  <a:pt x="0" y="868767"/>
                  <a:pt x="0" y="8477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82225" y="45434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082088" y="48482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دورة هندسية كاملة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86850" y="503872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→ Analyze → Simulate → Improve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4424363"/>
            <a:ext cx="2657475" cy="885825"/>
          </a:xfrm>
          <a:custGeom>
            <a:avLst/>
            <a:gdLst/>
            <a:ahLst/>
            <a:cxnLst/>
            <a:rect l="l" t="t" r="r" b="b"/>
            <a:pathLst>
              <a:path w="2657475" h="885825">
                <a:moveTo>
                  <a:pt x="38099" y="0"/>
                </a:moveTo>
                <a:lnTo>
                  <a:pt x="2619376" y="0"/>
                </a:lnTo>
                <a:cubicBezTo>
                  <a:pt x="2640417" y="0"/>
                  <a:pt x="2657475" y="17058"/>
                  <a:pt x="2657475" y="38099"/>
                </a:cubicBezTo>
                <a:lnTo>
                  <a:pt x="2657475" y="847726"/>
                </a:lnTo>
                <a:cubicBezTo>
                  <a:pt x="2657475" y="868767"/>
                  <a:pt x="2640417" y="885825"/>
                  <a:pt x="2619376" y="885825"/>
                </a:cubicBezTo>
                <a:lnTo>
                  <a:pt x="38099" y="885825"/>
                </a:lnTo>
                <a:cubicBezTo>
                  <a:pt x="17058" y="885825"/>
                  <a:pt x="0" y="868767"/>
                  <a:pt x="0" y="8477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91400" y="4543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6262688" y="48482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متوافق صناعياً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67450" y="503872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يشبه أنظمة VFFS الحقيقية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357563" y="4424363"/>
            <a:ext cx="2657475" cy="885825"/>
          </a:xfrm>
          <a:custGeom>
            <a:avLst/>
            <a:gdLst/>
            <a:ahLst/>
            <a:cxnLst/>
            <a:rect l="l" t="t" r="r" b="b"/>
            <a:pathLst>
              <a:path w="2657475" h="885825">
                <a:moveTo>
                  <a:pt x="38099" y="0"/>
                </a:moveTo>
                <a:lnTo>
                  <a:pt x="2619376" y="0"/>
                </a:lnTo>
                <a:cubicBezTo>
                  <a:pt x="2640417" y="0"/>
                  <a:pt x="2657475" y="17058"/>
                  <a:pt x="2657475" y="38099"/>
                </a:cubicBezTo>
                <a:lnTo>
                  <a:pt x="2657475" y="847726"/>
                </a:lnTo>
                <a:cubicBezTo>
                  <a:pt x="2657475" y="868767"/>
                  <a:pt x="2640417" y="885825"/>
                  <a:pt x="2619376" y="885825"/>
                </a:cubicBezTo>
                <a:lnTo>
                  <a:pt x="38099" y="885825"/>
                </a:lnTo>
                <a:cubicBezTo>
                  <a:pt x="17058" y="885825"/>
                  <a:pt x="0" y="868767"/>
                  <a:pt x="0" y="8477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86288" y="45434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3443288" y="48482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قابل للتطوير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448050" y="503872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تغيير المادة والسرعات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38163" y="4424363"/>
            <a:ext cx="2657475" cy="885825"/>
          </a:xfrm>
          <a:custGeom>
            <a:avLst/>
            <a:gdLst/>
            <a:ahLst/>
            <a:cxnLst/>
            <a:rect l="l" t="t" r="r" b="b"/>
            <a:pathLst>
              <a:path w="2657475" h="885825">
                <a:moveTo>
                  <a:pt x="38099" y="0"/>
                </a:moveTo>
                <a:lnTo>
                  <a:pt x="2619376" y="0"/>
                </a:lnTo>
                <a:cubicBezTo>
                  <a:pt x="2640417" y="0"/>
                  <a:pt x="2657475" y="17058"/>
                  <a:pt x="2657475" y="38099"/>
                </a:cubicBezTo>
                <a:lnTo>
                  <a:pt x="2657475" y="847726"/>
                </a:lnTo>
                <a:cubicBezTo>
                  <a:pt x="2657475" y="868767"/>
                  <a:pt x="2640417" y="885825"/>
                  <a:pt x="2619376" y="885825"/>
                </a:cubicBezTo>
                <a:lnTo>
                  <a:pt x="38099" y="885825"/>
                </a:lnTo>
                <a:cubicBezTo>
                  <a:pt x="17058" y="885825"/>
                  <a:pt x="0" y="868767"/>
                  <a:pt x="0" y="8477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81175" y="4543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23888" y="484822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موثّق بالكامل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8650" y="503872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كل قرار له سبب واضح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60225" y="371475"/>
            <a:ext cx="3650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14.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97517" y="371475"/>
            <a:ext cx="166821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تقييم المخاطر والقيود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Risk Assessment &amp;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قيود التحليل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Text 6"/>
          <p:cNvSpPr/>
          <p:nvPr/>
        </p:nvSpPr>
        <p:spPr>
          <a:xfrm>
            <a:off x="6324600" y="14097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الحسابات الحجمية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600" y="1600200"/>
            <a:ext cx="542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لا تأخذ الانزلاق المحلي والفراغات الدقيقة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9431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324600" y="20574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التحليل الإنشائي (FEA)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2247900"/>
            <a:ext cx="542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Static فقط | لا يشمل Fatigue أو Thermal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25908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600" y="27051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المحاكاة الحركية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4600" y="2895600"/>
            <a:ext cx="542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لا يشمل تأثير المادة الحقيقية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0" y="3238500"/>
            <a:ext cx="5600700" cy="571500"/>
          </a:xfrm>
          <a:custGeom>
            <a:avLst/>
            <a:gdLst/>
            <a:ahLst/>
            <a:cxnLst/>
            <a:rect l="l" t="t" r="r" b="b"/>
            <a:pathLst>
              <a:path w="5600700" h="571500">
                <a:moveTo>
                  <a:pt x="38102" y="0"/>
                </a:moveTo>
                <a:lnTo>
                  <a:pt x="5562598" y="0"/>
                </a:lnTo>
                <a:cubicBezTo>
                  <a:pt x="5583641" y="0"/>
                  <a:pt x="5600700" y="17059"/>
                  <a:pt x="5600700" y="38102"/>
                </a:cubicBezTo>
                <a:lnTo>
                  <a:pt x="5600700" y="533398"/>
                </a:lnTo>
                <a:cubicBezTo>
                  <a:pt x="5600700" y="554441"/>
                  <a:pt x="5583641" y="571500"/>
                  <a:pt x="55625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600" y="3352800"/>
            <a:ext cx="543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محاكاة DEM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600" y="3543300"/>
            <a:ext cx="542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لم تكتمل النتائج (إيقاف بعد 4 أيام)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مخاطر التصنيع والتشغيل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12954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62650" y="12954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5300" y="14097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التصنيع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300" y="16002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A65F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انحراف في الخلوص قد يسبب احتكاك زائد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19431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5" name="Shape 23"/>
          <p:cNvSpPr/>
          <p:nvPr/>
        </p:nvSpPr>
        <p:spPr>
          <a:xfrm>
            <a:off x="5962650" y="19431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5300" y="20574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جودة المواد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5300" y="22479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A65F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مواد أقل جودة قد تسبب تشققات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25908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29" name="Shape 27"/>
          <p:cNvSpPr/>
          <p:nvPr/>
        </p:nvSpPr>
        <p:spPr>
          <a:xfrm>
            <a:off x="5962650" y="25908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5300" y="27051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تغير المادة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5300" y="28956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A65F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الرطوبة تؤثر على الكثافة والعزم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3238500"/>
            <a:ext cx="5581650" cy="571500"/>
          </a:xfrm>
          <a:custGeom>
            <a:avLst/>
            <a:gdLst/>
            <a:ahLst/>
            <a:cxnLst/>
            <a:rect l="l" t="t" r="r" b="b"/>
            <a:pathLst>
              <a:path w="5581650" h="571500">
                <a:moveTo>
                  <a:pt x="38102" y="0"/>
                </a:moveTo>
                <a:lnTo>
                  <a:pt x="5543550" y="0"/>
                </a:lnTo>
                <a:cubicBezTo>
                  <a:pt x="5564578" y="0"/>
                  <a:pt x="5581650" y="17072"/>
                  <a:pt x="5581650" y="38100"/>
                </a:cubicBezTo>
                <a:lnTo>
                  <a:pt x="5581650" y="533400"/>
                </a:lnTo>
                <a:cubicBezTo>
                  <a:pt x="5581650" y="554428"/>
                  <a:pt x="5564578" y="571500"/>
                  <a:pt x="5543550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62650" y="32385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533400"/>
                </a:lnTo>
                <a:cubicBezTo>
                  <a:pt x="38100" y="554428"/>
                  <a:pt x="21028" y="571500"/>
                  <a:pt x="0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4" name="Text 32"/>
          <p:cNvSpPr/>
          <p:nvPr/>
        </p:nvSpPr>
        <p:spPr>
          <a:xfrm>
            <a:off x="495300" y="3352800"/>
            <a:ext cx="540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94B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الانسداد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5300" y="3543300"/>
            <a:ext cx="5391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10000"/>
              </a:lnSpc>
            </a:pPr>
            <a:r>
              <a:rPr lang="en-US" sz="900" dirty="0">
                <a:solidFill>
                  <a:srgbClr val="A65F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دخول جسم غريب قد يتجاوز العزم التصميمي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3962400"/>
            <a:ext cx="11410950" cy="495300"/>
          </a:xfrm>
          <a:custGeom>
            <a:avLst/>
            <a:gdLst/>
            <a:ahLst/>
            <a:cxnLst/>
            <a:rect l="l" t="t" r="r" b="b"/>
            <a:pathLst>
              <a:path w="11410950" h="495300">
                <a:moveTo>
                  <a:pt x="38098" y="0"/>
                </a:moveTo>
                <a:lnTo>
                  <a:pt x="11372852" y="0"/>
                </a:lnTo>
                <a:cubicBezTo>
                  <a:pt x="11393893" y="0"/>
                  <a:pt x="11410950" y="17057"/>
                  <a:pt x="11410950" y="38098"/>
                </a:cubicBezTo>
                <a:lnTo>
                  <a:pt x="11410950" y="457202"/>
                </a:lnTo>
                <a:cubicBezTo>
                  <a:pt x="11410950" y="478243"/>
                  <a:pt x="11393893" y="495300"/>
                  <a:pt x="11372852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791950" y="396240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457200"/>
                </a:lnTo>
                <a:cubicBezTo>
                  <a:pt x="38100" y="478228"/>
                  <a:pt x="21028" y="495300"/>
                  <a:pt x="0" y="495300"/>
                </a:cubicBez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472863" y="4133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704850" y="4114800"/>
            <a:ext cx="1098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ملاحظة هندسية: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وجود هذا الفصل هو ما يجعل التقرير </a:t>
            </a: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وثيقة هندسية حقيقية</a:t>
            </a: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وليس مجرد مشروع جامعي. كل مخاطرة معروفة ومفهومة ويمكن التعامل معها.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2000" y="0"/>
                </a:lnTo>
                <a:lnTo>
                  <a:pt x="1219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597283" y="371475"/>
            <a:ext cx="32801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15.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415165" y="371475"/>
            <a:ext cx="2187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النتائج والاستنتاجات النهائية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10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Conclusions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03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الإنجازات التقنية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295400"/>
            <a:ext cx="5600700" cy="342900"/>
          </a:xfrm>
          <a:custGeom>
            <a:avLst/>
            <a:gdLst/>
            <a:ahLst/>
            <a:cxnLst/>
            <a:rect l="l" t="t" r="r" b="b"/>
            <a:pathLst>
              <a:path w="5600700" h="34290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4800"/>
                </a:lnTo>
                <a:cubicBezTo>
                  <a:pt x="5600700" y="325842"/>
                  <a:pt x="5583642" y="342900"/>
                  <a:pt x="5562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11563350" y="140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132219" y="13716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تصميم نظام تعبئة حجمي متكامل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714500"/>
            <a:ext cx="5600700" cy="342900"/>
          </a:xfrm>
          <a:custGeom>
            <a:avLst/>
            <a:gdLst/>
            <a:ahLst/>
            <a:cxnLst/>
            <a:rect l="l" t="t" r="r" b="b"/>
            <a:pathLst>
              <a:path w="5600700" h="34290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4800"/>
                </a:lnTo>
                <a:cubicBezTo>
                  <a:pt x="5600700" y="325842"/>
                  <a:pt x="5583642" y="342900"/>
                  <a:pt x="5562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11563350" y="182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349657" y="17907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تطوير تصميم قابل للتصنيع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2133600"/>
            <a:ext cx="5600700" cy="342900"/>
          </a:xfrm>
          <a:custGeom>
            <a:avLst/>
            <a:gdLst/>
            <a:ahLst/>
            <a:cxnLst/>
            <a:rect l="l" t="t" r="r" b="b"/>
            <a:pathLst>
              <a:path w="5600700" h="34290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4800"/>
                </a:lnTo>
                <a:cubicBezTo>
                  <a:pt x="5600700" y="325842"/>
                  <a:pt x="5583642" y="342900"/>
                  <a:pt x="5562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3350" y="2247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566225" y="22098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صياغة نماذج حسابية Parameter-driven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0" y="2552700"/>
            <a:ext cx="5600700" cy="342900"/>
          </a:xfrm>
          <a:custGeom>
            <a:avLst/>
            <a:gdLst/>
            <a:ahLst/>
            <a:cxnLst/>
            <a:rect l="l" t="t" r="r" b="b"/>
            <a:pathLst>
              <a:path w="5600700" h="342900">
                <a:moveTo>
                  <a:pt x="38100" y="0"/>
                </a:moveTo>
                <a:lnTo>
                  <a:pt x="5562600" y="0"/>
                </a:lnTo>
                <a:cubicBezTo>
                  <a:pt x="5583642" y="0"/>
                  <a:pt x="5600700" y="17058"/>
                  <a:pt x="5600700" y="38100"/>
                </a:cubicBezTo>
                <a:lnTo>
                  <a:pt x="5600700" y="304800"/>
                </a:lnTo>
                <a:cubicBezTo>
                  <a:pt x="5600700" y="325842"/>
                  <a:pt x="5583642" y="342900"/>
                  <a:pt x="55626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633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178802" y="26289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اختيار نظام قيادة منطقي ومُبرَّر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0300" y="30480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ملخص التحقق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3429000"/>
            <a:ext cx="5581650" cy="342900"/>
          </a:xfrm>
          <a:custGeom>
            <a:avLst/>
            <a:gdLst/>
            <a:ahLst/>
            <a:cxnLst/>
            <a:rect l="l" t="t" r="r" b="b"/>
            <a:pathLst>
              <a:path w="5581650" h="3429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04800"/>
                </a:lnTo>
                <a:cubicBezTo>
                  <a:pt x="5581650" y="325842"/>
                  <a:pt x="5564592" y="342900"/>
                  <a:pt x="55435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91950" y="34290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04800"/>
                </a:lnTo>
                <a:cubicBezTo>
                  <a:pt x="38100" y="325828"/>
                  <a:pt x="21028" y="342900"/>
                  <a:pt x="0" y="342900"/>
                </a:cubicBez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57397" y="3524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57950" y="3505200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تحقق تحليلي: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معادلات معروفة ومراجع موثوقة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3848100"/>
            <a:ext cx="5581650" cy="342900"/>
          </a:xfrm>
          <a:custGeom>
            <a:avLst/>
            <a:gdLst/>
            <a:ahLst/>
            <a:cxnLst/>
            <a:rect l="l" t="t" r="r" b="b"/>
            <a:pathLst>
              <a:path w="5581650" h="3429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04800"/>
                </a:lnTo>
                <a:cubicBezTo>
                  <a:pt x="5581650" y="325842"/>
                  <a:pt x="5564592" y="342900"/>
                  <a:pt x="55435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91950" y="38481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04800"/>
                </a:lnTo>
                <a:cubicBezTo>
                  <a:pt x="38100" y="325828"/>
                  <a:pt x="21028" y="342900"/>
                  <a:pt x="0" y="342900"/>
                </a:cubicBez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57397" y="3943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27" name="Text 25"/>
          <p:cNvSpPr/>
          <p:nvPr/>
        </p:nvSpPr>
        <p:spPr>
          <a:xfrm>
            <a:off x="6457950" y="3924300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تحقق عددي (FEA):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إجهادات ضمن الحدود الآمنة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4267200"/>
            <a:ext cx="5581650" cy="342900"/>
          </a:xfrm>
          <a:custGeom>
            <a:avLst/>
            <a:gdLst/>
            <a:ahLst/>
            <a:cxnLst/>
            <a:rect l="l" t="t" r="r" b="b"/>
            <a:pathLst>
              <a:path w="5581650" h="342900">
                <a:moveTo>
                  <a:pt x="38100" y="0"/>
                </a:moveTo>
                <a:lnTo>
                  <a:pt x="5543550" y="0"/>
                </a:lnTo>
                <a:cubicBezTo>
                  <a:pt x="5564592" y="0"/>
                  <a:pt x="5581650" y="17058"/>
                  <a:pt x="5581650" y="38100"/>
                </a:cubicBezTo>
                <a:lnTo>
                  <a:pt x="5581650" y="304800"/>
                </a:lnTo>
                <a:cubicBezTo>
                  <a:pt x="5581650" y="325842"/>
                  <a:pt x="5564592" y="342900"/>
                  <a:pt x="55435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11791950" y="42672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0" y="0"/>
                </a:lnTo>
                <a:cubicBezTo>
                  <a:pt x="21028" y="0"/>
                  <a:pt x="38100" y="17072"/>
                  <a:pt x="38100" y="38100"/>
                </a:cubicBezTo>
                <a:lnTo>
                  <a:pt x="38100" y="304800"/>
                </a:lnTo>
                <a:cubicBezTo>
                  <a:pt x="38100" y="325828"/>
                  <a:pt x="21028" y="342900"/>
                  <a:pt x="0" y="342900"/>
                </a:cubicBez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57397" y="4362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16630"/>
          </a:solidFill>
          <a:ln/>
        </p:spPr>
      </p:sp>
      <p:sp>
        <p:nvSpPr>
          <p:cNvPr id="31" name="Text 29"/>
          <p:cNvSpPr/>
          <p:nvPr/>
        </p:nvSpPr>
        <p:spPr>
          <a:xfrm>
            <a:off x="6457950" y="4343400"/>
            <a:ext cx="530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b="1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تحقق حركي:</a:t>
            </a:r>
            <a:r>
              <a:rPr lang="en-US" sz="1050" dirty="0">
                <a:solidFill>
                  <a:srgbClr val="01663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لا تعارضات ميكانيكية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1000" y="9144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متانة التصميم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1295400"/>
            <a:ext cx="5600700" cy="1028700"/>
          </a:xfrm>
          <a:custGeom>
            <a:avLst/>
            <a:gdLst/>
            <a:ahLst/>
            <a:cxnLst/>
            <a:rect l="l" t="t" r="r" b="b"/>
            <a:pathLst>
              <a:path w="5600700" h="1028700">
                <a:moveTo>
                  <a:pt x="38103" y="0"/>
                </a:moveTo>
                <a:lnTo>
                  <a:pt x="5562597" y="0"/>
                </a:lnTo>
                <a:cubicBezTo>
                  <a:pt x="5583641" y="0"/>
                  <a:pt x="5600700" y="17059"/>
                  <a:pt x="5600700" y="38103"/>
                </a:cubicBezTo>
                <a:lnTo>
                  <a:pt x="5600700" y="990597"/>
                </a:lnTo>
                <a:cubicBezTo>
                  <a:pt x="5600700" y="1011641"/>
                  <a:pt x="5583641" y="1028700"/>
                  <a:pt x="55625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9562" y="1452563"/>
            <a:ext cx="1704975" cy="714375"/>
          </a:xfrm>
          <a:custGeom>
            <a:avLst/>
            <a:gdLst/>
            <a:ahLst/>
            <a:cxnLst/>
            <a:rect l="l" t="t" r="r" b="b"/>
            <a:pathLst>
              <a:path w="1704975" h="714375">
                <a:moveTo>
                  <a:pt x="38098" y="0"/>
                </a:moveTo>
                <a:lnTo>
                  <a:pt x="1666877" y="0"/>
                </a:lnTo>
                <a:cubicBezTo>
                  <a:pt x="1687918" y="0"/>
                  <a:pt x="1704975" y="17057"/>
                  <a:pt x="1704975" y="38098"/>
                </a:cubicBezTo>
                <a:lnTo>
                  <a:pt x="1704975" y="676277"/>
                </a:lnTo>
                <a:cubicBezTo>
                  <a:pt x="1704975" y="697318"/>
                  <a:pt x="1687918" y="714375"/>
                  <a:pt x="1666877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6800" y="153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4171950" y="17811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هندسياً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171950" y="19335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معامل أمان مناسب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328863" y="1452563"/>
            <a:ext cx="1704975" cy="714375"/>
          </a:xfrm>
          <a:custGeom>
            <a:avLst/>
            <a:gdLst/>
            <a:ahLst/>
            <a:cxnLst/>
            <a:rect l="l" t="t" r="r" b="b"/>
            <a:pathLst>
              <a:path w="1704975" h="714375">
                <a:moveTo>
                  <a:pt x="38098" y="0"/>
                </a:moveTo>
                <a:lnTo>
                  <a:pt x="1666877" y="0"/>
                </a:lnTo>
                <a:cubicBezTo>
                  <a:pt x="1687918" y="0"/>
                  <a:pt x="1704975" y="17057"/>
                  <a:pt x="1704975" y="38098"/>
                </a:cubicBezTo>
                <a:lnTo>
                  <a:pt x="1704975" y="676277"/>
                </a:lnTo>
                <a:cubicBezTo>
                  <a:pt x="1704975" y="697318"/>
                  <a:pt x="1687918" y="714375"/>
                  <a:pt x="1666877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6100" y="153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2381250" y="17811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تشغيلياً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381250" y="19335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يتحمل تغيرات المادة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8163" y="1452563"/>
            <a:ext cx="1704975" cy="714375"/>
          </a:xfrm>
          <a:custGeom>
            <a:avLst/>
            <a:gdLst/>
            <a:ahLst/>
            <a:cxnLst/>
            <a:rect l="l" t="t" r="r" b="b"/>
            <a:pathLst>
              <a:path w="1704975" h="714375">
                <a:moveTo>
                  <a:pt x="38098" y="0"/>
                </a:moveTo>
                <a:lnTo>
                  <a:pt x="1666877" y="0"/>
                </a:lnTo>
                <a:cubicBezTo>
                  <a:pt x="1687918" y="0"/>
                  <a:pt x="1704975" y="17057"/>
                  <a:pt x="1704975" y="38098"/>
                </a:cubicBezTo>
                <a:lnTo>
                  <a:pt x="1704975" y="676277"/>
                </a:lnTo>
                <a:cubicBezTo>
                  <a:pt x="1704975" y="697318"/>
                  <a:pt x="1687918" y="714375"/>
                  <a:pt x="1666877" y="714375"/>
                </a:cubicBezTo>
                <a:lnTo>
                  <a:pt x="38098" y="714375"/>
                </a:lnTo>
                <a:cubicBezTo>
                  <a:pt x="17057" y="714375"/>
                  <a:pt x="0" y="697318"/>
                  <a:pt x="0" y="676277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07306" y="1533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59531"/>
                </a:lnTo>
                <a:cubicBezTo>
                  <a:pt x="0" y="66117"/>
                  <a:pt x="5321" y="71438"/>
                  <a:pt x="11906" y="71438"/>
                </a:cubicBezTo>
                <a:cubicBezTo>
                  <a:pt x="18492" y="71438"/>
                  <a:pt x="23812" y="66117"/>
                  <a:pt x="23812" y="59531"/>
                </a:cubicBezTo>
                <a:lnTo>
                  <a:pt x="23812" y="35719"/>
                </a:lnTo>
                <a:lnTo>
                  <a:pt x="47625" y="35719"/>
                </a:lnTo>
                <a:cubicBezTo>
                  <a:pt x="54211" y="35719"/>
                  <a:pt x="59531" y="30398"/>
                  <a:pt x="59531" y="23812"/>
                </a:cubicBezTo>
                <a:cubicBezTo>
                  <a:pt x="59531" y="17227"/>
                  <a:pt x="54211" y="11906"/>
                  <a:pt x="47625" y="11906"/>
                </a:cubicBezTo>
                <a:lnTo>
                  <a:pt x="11906" y="11906"/>
                </a:lnTo>
                <a:close/>
                <a:moveTo>
                  <a:pt x="23812" y="130969"/>
                </a:moveTo>
                <a:cubicBezTo>
                  <a:pt x="23812" y="124383"/>
                  <a:pt x="18492" y="119063"/>
                  <a:pt x="11906" y="119063"/>
                </a:cubicBezTo>
                <a:cubicBezTo>
                  <a:pt x="5321" y="119063"/>
                  <a:pt x="0" y="124383"/>
                  <a:pt x="0" y="130969"/>
                </a:cubicBez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7625" y="178594"/>
                </a:lnTo>
                <a:cubicBezTo>
                  <a:pt x="54211" y="178594"/>
                  <a:pt x="59531" y="173273"/>
                  <a:pt x="59531" y="166688"/>
                </a:cubicBezTo>
                <a:cubicBezTo>
                  <a:pt x="59531" y="160102"/>
                  <a:pt x="54211" y="154781"/>
                  <a:pt x="47625" y="154781"/>
                </a:cubicBez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119063" y="11906"/>
                </a:moveTo>
                <a:cubicBezTo>
                  <a:pt x="112477" y="11906"/>
                  <a:pt x="107156" y="17227"/>
                  <a:pt x="107156" y="23812"/>
                </a:cubicBezTo>
                <a:cubicBezTo>
                  <a:pt x="107156" y="30398"/>
                  <a:pt x="112477" y="35719"/>
                  <a:pt x="119063" y="35719"/>
                </a:cubicBezTo>
                <a:lnTo>
                  <a:pt x="142875" y="35719"/>
                </a:lnTo>
                <a:lnTo>
                  <a:pt x="142875" y="59531"/>
                </a:lnTo>
                <a:cubicBezTo>
                  <a:pt x="142875" y="66117"/>
                  <a:pt x="148196" y="71438"/>
                  <a:pt x="154781" y="71438"/>
                </a:cubicBezTo>
                <a:cubicBezTo>
                  <a:pt x="161367" y="71438"/>
                  <a:pt x="166688" y="66117"/>
                  <a:pt x="166688" y="59531"/>
                </a:cubicBezTo>
                <a:lnTo>
                  <a:pt x="166688" y="23812"/>
                </a:lnTo>
                <a:cubicBezTo>
                  <a:pt x="166688" y="17227"/>
                  <a:pt x="161367" y="11906"/>
                  <a:pt x="154781" y="11906"/>
                </a:cubicBezTo>
                <a:lnTo>
                  <a:pt x="119063" y="11906"/>
                </a:lnTo>
                <a:close/>
                <a:moveTo>
                  <a:pt x="166688" y="130969"/>
                </a:moveTo>
                <a:cubicBezTo>
                  <a:pt x="166688" y="124383"/>
                  <a:pt x="161367" y="119063"/>
                  <a:pt x="154781" y="119063"/>
                </a:cubicBezTo>
                <a:cubicBezTo>
                  <a:pt x="148196" y="119063"/>
                  <a:pt x="142875" y="124383"/>
                  <a:pt x="142875" y="130969"/>
                </a:cubicBezTo>
                <a:lnTo>
                  <a:pt x="142875" y="154781"/>
                </a:lnTo>
                <a:lnTo>
                  <a:pt x="119063" y="154781"/>
                </a:lnTo>
                <a:cubicBezTo>
                  <a:pt x="112477" y="154781"/>
                  <a:pt x="107156" y="160102"/>
                  <a:pt x="107156" y="166688"/>
                </a:cubicBezTo>
                <a:cubicBezTo>
                  <a:pt x="107156" y="173273"/>
                  <a:pt x="112477" y="178594"/>
                  <a:pt x="119063" y="178594"/>
                </a:cubicBezTo>
                <a:lnTo>
                  <a:pt x="154781" y="178594"/>
                </a:lnTo>
                <a:cubicBezTo>
                  <a:pt x="161367" y="178594"/>
                  <a:pt x="166688" y="173273"/>
                  <a:pt x="166688" y="166688"/>
                </a:cubicBezTo>
                <a:lnTo>
                  <a:pt x="166688" y="13096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590550" y="17811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قابل للتطوير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0550" y="19335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زيادة السعة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81000" y="2476500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الدروس المستفادة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850731" y="28765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552450" y="28575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الهندسة ليست معادلات فقط، بل فهم للمشكلة والسياق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50731" y="31051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552450" y="30861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كل قرار يجب أن يكون قابلاً للتبرير بعد سنوات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850731" y="33337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552450" y="33147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التحليل العددي أداة تأكيد وليست أداة تفكير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850731" y="35623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552450" y="3543300"/>
            <a:ext cx="549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العمل الواقعي دائماً غير مثالي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1000" y="4762500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38102" y="0"/>
                </a:moveTo>
                <a:lnTo>
                  <a:pt x="11391898" y="0"/>
                </a:lnTo>
                <a:cubicBezTo>
                  <a:pt x="11412941" y="0"/>
                  <a:pt x="11430000" y="17059"/>
                  <a:pt x="11430000" y="38102"/>
                </a:cubicBezTo>
                <a:lnTo>
                  <a:pt x="11430000" y="533398"/>
                </a:lnTo>
                <a:cubicBezTo>
                  <a:pt x="11430000" y="554441"/>
                  <a:pt x="11412941" y="571500"/>
                  <a:pt x="1139189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7627888" y="4943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709613" y="4914900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التصميم آمن إنشائياً | قابل للتشغيل الواقعي | موثّق بالكامل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100000">
                <a:srgbClr val="F9FAFB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774531" y="1466850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53578" y="218554"/>
                </a:moveTo>
                <a:lnTo>
                  <a:pt x="287089" y="314660"/>
                </a:lnTo>
                <a:cubicBezTo>
                  <a:pt x="298028" y="319125"/>
                  <a:pt x="309637" y="321469"/>
                  <a:pt x="321469" y="321469"/>
                </a:cubicBezTo>
                <a:cubicBezTo>
                  <a:pt x="333301" y="321469"/>
                  <a:pt x="344909" y="319125"/>
                  <a:pt x="355848" y="314660"/>
                </a:cubicBezTo>
                <a:lnTo>
                  <a:pt x="626418" y="203262"/>
                </a:lnTo>
                <a:cubicBezTo>
                  <a:pt x="636463" y="199132"/>
                  <a:pt x="642938" y="189421"/>
                  <a:pt x="642938" y="178594"/>
                </a:cubicBezTo>
                <a:cubicBezTo>
                  <a:pt x="642938" y="167767"/>
                  <a:pt x="636463" y="158055"/>
                  <a:pt x="626418" y="153925"/>
                </a:cubicBezTo>
                <a:lnTo>
                  <a:pt x="355848" y="42528"/>
                </a:lnTo>
                <a:cubicBezTo>
                  <a:pt x="344909" y="38063"/>
                  <a:pt x="333301" y="35719"/>
                  <a:pt x="321469" y="35719"/>
                </a:cubicBezTo>
                <a:cubicBezTo>
                  <a:pt x="309637" y="35719"/>
                  <a:pt x="298028" y="38063"/>
                  <a:pt x="287089" y="42528"/>
                </a:cubicBezTo>
                <a:lnTo>
                  <a:pt x="16520" y="153925"/>
                </a:lnTo>
                <a:cubicBezTo>
                  <a:pt x="6474" y="158055"/>
                  <a:pt x="0" y="167767"/>
                  <a:pt x="0" y="178594"/>
                </a:cubicBezTo>
                <a:lnTo>
                  <a:pt x="0" y="508992"/>
                </a:lnTo>
                <a:cubicBezTo>
                  <a:pt x="0" y="523838"/>
                  <a:pt x="11943" y="535781"/>
                  <a:pt x="26789" y="535781"/>
                </a:cubicBezTo>
                <a:cubicBezTo>
                  <a:pt x="41635" y="535781"/>
                  <a:pt x="53578" y="523838"/>
                  <a:pt x="53578" y="508992"/>
                </a:cubicBezTo>
                <a:lnTo>
                  <a:pt x="53578" y="218554"/>
                </a:lnTo>
                <a:close/>
                <a:moveTo>
                  <a:pt x="107156" y="298586"/>
                </a:moveTo>
                <a:lnTo>
                  <a:pt x="107156" y="428625"/>
                </a:lnTo>
                <a:cubicBezTo>
                  <a:pt x="107156" y="487784"/>
                  <a:pt x="203150" y="535781"/>
                  <a:pt x="321469" y="535781"/>
                </a:cubicBezTo>
                <a:cubicBezTo>
                  <a:pt x="439787" y="535781"/>
                  <a:pt x="535781" y="487784"/>
                  <a:pt x="535781" y="428625"/>
                </a:cubicBezTo>
                <a:lnTo>
                  <a:pt x="535781" y="298475"/>
                </a:lnTo>
                <a:lnTo>
                  <a:pt x="376275" y="364220"/>
                </a:lnTo>
                <a:cubicBezTo>
                  <a:pt x="358862" y="371363"/>
                  <a:pt x="340333" y="375047"/>
                  <a:pt x="321469" y="375047"/>
                </a:cubicBezTo>
                <a:cubicBezTo>
                  <a:pt x="302605" y="375047"/>
                  <a:pt x="284076" y="371363"/>
                  <a:pt x="266663" y="364220"/>
                </a:cubicBezTo>
                <a:lnTo>
                  <a:pt x="107156" y="29847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532537" y="2495550"/>
            <a:ext cx="112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شكراً لكم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74791" y="302895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6385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445347" y="3981450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Hassan Auger Filler VFFS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12605" y="4324350"/>
            <a:ext cx="336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Engineering Design &amp; Analysis Report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0837" y="48958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079456" y="52006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50968" y="4895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854" y="520065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27055" y="4895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8781" y="520065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70996" y="4895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3884" y="5200650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-33337" y="6362700"/>
            <a:ext cx="1225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شاشة عريضة</PresentationFormat>
  <Paragraphs>0</Paragraphs>
  <Slides>18</Slides>
  <Notes>18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19" baseType="lpstr">
      <vt:lpstr>Custom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Hassan Auger Filler VFFS Presentation</dc:title>
  <dc:subject>Hassan Auger Filler VFFS Presentation</dc:subject>
  <dc:creator>Kimi</dc:creator>
  <cp:lastModifiedBy>hassan ghaleb</cp:lastModifiedBy>
  <cp:revision>5</cp:revision>
  <dcterms:created xsi:type="dcterms:W3CDTF">2026-02-08T00:10:01Z</dcterms:created>
  <dcterms:modified xsi:type="dcterms:W3CDTF">2026-02-09T20:49:17Z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{"Label":"Hassan Auger Filler VFFS Presentation","ContentProducer":"001191110108MACG2KBH8F10000","ProduceID":"","ReservedCode1":"","ContentPropagator":"001191110108MACG2KBH8F20000","PropagateID":"","ReservedCode2":""}</vt:lpwstr>
  </property>
</Properties>
</file>