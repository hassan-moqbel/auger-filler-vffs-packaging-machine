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24" r:id="rId1"/>
  </p:sldMasterIdLst>
  <p:notesMasterIdLst>
    <p:notesMasterId r:id="rId16"/>
  </p:notesMasterIdLst>
  <p:sldIdLst>
    <p:sldId id="256" r:id="rId2"/>
    <p:sldId id="257" r:id="rId3"/>
    <p:sldId id="267" r:id="rId4"/>
    <p:sldId id="268" r:id="rId5"/>
    <p:sldId id="259" r:id="rId6"/>
    <p:sldId id="270" r:id="rId7"/>
    <p:sldId id="261" r:id="rId8"/>
    <p:sldId id="269" r:id="rId9"/>
    <p:sldId id="272" r:id="rId10"/>
    <p:sldId id="263" r:id="rId11"/>
    <p:sldId id="264" r:id="rId12"/>
    <p:sldId id="273" r:id="rId13"/>
    <p:sldId id="265" r:id="rId14"/>
    <p:sldId id="271" r:id="rId15"/>
  </p:sldIdLst>
  <p:sldSz cx="14630400" cy="8229600"/>
  <p:notesSz cx="8229600" cy="14630400"/>
  <p:embeddedFontLst>
    <p:embeddedFont>
      <p:font typeface="Inter" panose="020B0604020202020204" charset="0"/>
      <p:regular r:id="rId17"/>
    </p:embeddedFont>
    <p:embeddedFont>
      <p:font typeface="Roboto" panose="02000000000000000000" pitchFamily="2" charset="0"/>
      <p:regular r:id="rId18"/>
      <p:bold r:id="rId19"/>
      <p:italic r:id="rId20"/>
      <p:boldItalic r:id="rId21"/>
    </p:embeddedFont>
    <p:embeddedFont>
      <p:font typeface="Roboto Medium" panose="02000000000000000000" pitchFamily="2" charset="0"/>
      <p:regular r:id="rId22"/>
      <p: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52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6053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B806B-228E-2F5A-DC97-9F45B7541F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F6F872-2569-C56F-5871-2A35F2E83E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4288A-179A-084C-3DDF-D5B4E52DA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1E137-C36B-9A8A-1113-CA24258C5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DB07F-810A-64B7-80AA-D2EF36DF8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48115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46B4C-523E-251F-081D-7C203B8AB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A610E-CA16-7C01-384E-C957FBA43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BBDA6-004B-9C08-AED1-794619263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04ABE-EE43-A7E9-9966-66FA9D073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B776F-8255-0812-D9C6-077911E6A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70263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FA362-07D2-DF34-C92D-0CDB72368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0559FB-2493-F8AE-CA29-03F45E55B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6FAE2-4CC2-7114-5EFD-F8BFDFDC9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95F13-37D6-B773-CBF4-01BF2476C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B604A-FCB4-D93D-497A-2842EE8E7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75972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8F054-0A8E-73EA-EAEB-D01E71D36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D2F95-28A1-31E8-AF13-E65E98AF26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ECDF4C-B4BB-05C4-988E-E3B4061E45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443C0E-CC2F-4F3F-909E-A75FCAC4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E3DDC6-721B-E27D-5DAB-EBE2B6A3D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5DF12-5C74-F9E5-551E-044BCD62D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12562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9C533-4ACB-492D-D193-A47A75B67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30A4E1-B98B-E01D-7226-F02EDA430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DAC2BA-E489-0FDB-D56A-5C15AAC3BB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BC2130-9EF8-1B7D-CD52-39BC6F7D94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268CDA-C283-0E74-CFA4-867CE05D2F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11353B-659E-9B8A-9C05-FBA87C10F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CCC8A-9E8E-CB11-39CE-6A8114063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06F8F2-E4C2-C6F0-14B5-A6F0F775C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44287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9F83A-FA2F-E963-179D-C6A14F3BA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EB40CB-E6C5-6DC9-71DF-D57FC48CD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91D689-FD7F-8A10-EA96-FB4A2DAFC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711DF5-ACBB-939E-C277-0182B6BE2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17236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B1E657-4392-1EF9-936A-CC179F855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190CE5-DF55-90A5-5B58-E240178F1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0FFCC-7434-3552-6D43-97800C15F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44887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0672D-7647-EEC7-068F-632350CAD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1094D-7970-AF99-CD0D-F492B5956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D2BB9-104A-D514-5CA3-9E8635C37D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F8B148-29A9-D16C-0F81-1F6B92C22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F20D8-285A-7000-631B-195B62113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003008-1216-C039-8475-9DB56B512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91401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CDF05-D754-04CD-544D-6C3DD61DC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C59997-763F-1227-1047-1B3767D90A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0997ED-0A9F-3A4F-D7C4-F779001FD9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E20CC6-F6D7-9F9A-0025-B94135BF0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899A73-0FA6-1BCC-500A-1030EB726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AEE71-9054-56DB-781B-7618DF23F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89279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8577A-F650-286B-538B-7C6B672B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0987BA-A1F4-C937-F017-C5FDDD62E7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3A95C-1D67-4EBF-36EB-B31E9AB23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5A7D1-D5ED-3F60-87FC-CD1D1FB6B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0B13E-CAB4-5675-0EEC-A1393895A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52186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0F3F1B-3D07-B4DB-FD15-759DD779AA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5BAE48-6BA9-7CE8-E978-A18157EDBB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BBED7-4FFF-6B9B-C4C1-740196671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1F664-A7E3-FA7A-EF42-64D577590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0BEAE-F815-0C67-9431-C0D3DAC57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48789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87387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409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1567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72252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24099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49976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88398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712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E9F128-BD90-195E-27CF-71728F053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37A66E-0C67-0677-A7B3-321A0EF5E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85D7B-A86A-9B80-DF11-AED86A1B45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6AD3E-9971-CFF5-3F7D-8FAA9D1D2F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5782E-8004-3C55-A452-2ADC40370F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946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  <p:sldLayoutId id="2147483741" r:id="rId17"/>
    <p:sldLayoutId id="2147483742" r:id="rId18"/>
    <p:sldLayoutId id="2147483743" r:id="rId19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gif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0.png"/><Relationship Id="rId4" Type="http://schemas.openxmlformats.org/officeDocument/2006/relationships/image" Target="../media/image39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b="11153"/>
          <a:stretch>
            <a:fillRect/>
          </a:stretch>
        </p:blipFill>
        <p:spPr>
          <a:xfrm>
            <a:off x="0" y="745977"/>
            <a:ext cx="5486400" cy="60249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72960"/>
            <a:ext cx="7690991" cy="271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5550"/>
              </a:lnSpc>
              <a:buNone/>
            </a:pPr>
            <a:r>
              <a:rPr lang="ar-YE" sz="4800" dirty="0"/>
              <a:t>تصميم نظام التخزين وتسهيل التدفق</a:t>
            </a:r>
            <a:endParaRPr lang="en-US" sz="4800" dirty="0"/>
          </a:p>
          <a:p>
            <a:pPr marL="0" indent="0" algn="r" rtl="1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+mj-cs"/>
              </a:rPr>
              <a:t>Hopper &amp; Agitation System </a:t>
            </a:r>
          </a:p>
          <a:p>
            <a:pPr marL="0" indent="0" algn="r" rtl="1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+mj-cs"/>
              </a:rPr>
              <a:t>Design</a:t>
            </a:r>
            <a:endParaRPr lang="en-US" sz="4450" dirty="0">
              <a:cs typeface="+mj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14760" y="412841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r" rtl="1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b="1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إعداد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en-US" sz="1750" b="1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الطلاب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: </a:t>
            </a:r>
            <a:endParaRPr lang="en-US" sz="1750" b="1" dirty="0">
              <a:cs typeface="+mj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9670456" y="5810228"/>
            <a:ext cx="430072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r" rtl="1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b="1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إشراف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:</a:t>
            </a:r>
            <a:r>
              <a:rPr lang="ar-YE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   </a:t>
            </a:r>
            <a:r>
              <a:rPr lang="ar-YE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     </a:t>
            </a:r>
            <a:r>
              <a:rPr lang="ar-YE" sz="1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د</a:t>
            </a:r>
            <a:r>
              <a:rPr lang="en-US" sz="1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/</a:t>
            </a:r>
            <a:r>
              <a:rPr lang="ar-YE" sz="1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عبدالله ذيبان. </a:t>
            </a:r>
            <a:endParaRPr lang="en-US" sz="1900" dirty="0">
              <a:cs typeface="+mj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6414760" y="648386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r" rtl="1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b="1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العام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en-US" sz="1750" b="1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الجامعي</a:t>
            </a:r>
            <a:r>
              <a:rPr lang="ar-YE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: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    </a:t>
            </a:r>
            <a:r>
              <a:rPr lang="ar-YE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2026 - 2025</a:t>
            </a:r>
            <a:endParaRPr lang="en-US" sz="1750" dirty="0"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415D1A-DB9E-792B-78EA-0662C610446F}"/>
              </a:ext>
            </a:extLst>
          </p:cNvPr>
          <p:cNvSpPr txBox="1"/>
          <p:nvPr/>
        </p:nvSpPr>
        <p:spPr bwMode="auto">
          <a:xfrm>
            <a:off x="10501314" y="4684763"/>
            <a:ext cx="3114510" cy="6232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r">
              <a:defRPr/>
            </a:pPr>
            <a:r>
              <a:rPr lang="ar-YE" dirty="0">
                <a:cs typeface="+mj-cs"/>
              </a:rPr>
              <a:t>عبدالرحيم ياسر عبدالرحيم غانم </a:t>
            </a:r>
          </a:p>
          <a:p>
            <a:pPr algn="r">
              <a:defRPr/>
            </a:pPr>
            <a:r>
              <a:rPr lang="ar-YE" dirty="0">
                <a:cs typeface="+mj-cs"/>
              </a:rPr>
              <a:t>202173006</a:t>
            </a:r>
            <a:endParaRPr lang="ar-SA" dirty="0"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02324" y="1760220"/>
            <a:ext cx="1143428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4450"/>
              </a:lnSpc>
              <a:buNone/>
            </a:pPr>
            <a:r>
              <a:rPr lang="ar-YE" sz="3600" dirty="0"/>
              <a:t>نطاق العمل والتحديات (</a:t>
            </a:r>
            <a:r>
              <a:rPr lang="en-US" sz="3600" dirty="0"/>
              <a:t>(Scope &amp; Problem Statement</a:t>
            </a:r>
            <a:endParaRPr lang="en-US" sz="3550" dirty="0"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428667" y="2780824"/>
            <a:ext cx="6407944" cy="1730812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28667" y="2780824"/>
            <a:ext cx="121920" cy="1730812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10652641" y="30381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ar-YE" sz="22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المهمة: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85961" y="3528536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ar-YE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تصميم خزان التعبئة + شفرات تكسير التكتل + الهيكل الرابط.</a:t>
            </a:r>
            <a:endParaRPr lang="en-US" sz="1750" dirty="0">
              <a:cs typeface="+mj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93790" y="2780824"/>
            <a:ext cx="6408063" cy="1730812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3790" y="2780824"/>
            <a:ext cx="121920" cy="1730812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4017883" y="30381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ar-YE" sz="22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التحدي: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51084" y="3528536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ar-YE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منع ظاهرة التكهف </a:t>
            </a: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(Rat-holing) </a:t>
            </a:r>
            <a:r>
              <a:rPr lang="ar-YE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والجسور </a:t>
            </a:r>
            <a:r>
              <a:rPr lang="en-US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(Bridging)</a:t>
            </a:r>
            <a:r>
              <a:rPr lang="ar-YE" sz="17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للبودرة.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9795E7A-4117-9F63-2C26-B72EC7F77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005" y="4611118"/>
            <a:ext cx="5007935" cy="320314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F4FD99C-8D1D-6A12-13C6-C6F57684DC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5961" y="4768930"/>
            <a:ext cx="6048276" cy="30085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25629" y="1144310"/>
            <a:ext cx="1071098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4450"/>
              </a:lnSpc>
              <a:buNone/>
            </a:pPr>
            <a:r>
              <a:rPr lang="ar-YE" sz="3600" dirty="0"/>
              <a:t>معايير التصميم وحسابات السعة </a:t>
            </a:r>
            <a:r>
              <a:rPr lang="en-US" sz="3600" dirty="0"/>
              <a:t>(Design Criteria &amp; Capacity)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428667" y="2164913"/>
            <a:ext cx="6407944" cy="1367909"/>
          </a:xfrm>
          <a:prstGeom prst="roundRect">
            <a:avLst>
              <a:gd name="adj" fmla="val 6964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28667" y="2164913"/>
            <a:ext cx="121920" cy="1367909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10652641" y="24222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2200" b="1" dirty="0" err="1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المادة</a:t>
            </a:r>
            <a:r>
              <a:rPr lang="en-US" sz="22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المستهدفة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85961" y="2912626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ts val="2850"/>
              </a:lnSpc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ملح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طعام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ar-YE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(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كثافة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حجمية</a:t>
            </a:r>
            <a:r>
              <a:rPr lang="ar-YE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≈</a:t>
            </a:r>
            <a:r>
              <a:rPr lang="ar-YE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1.3 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g/cm³</a:t>
            </a:r>
            <a:r>
              <a:rPr lang="ar-YE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)</a:t>
            </a:r>
            <a:endParaRPr lang="en-US" sz="1750" dirty="0">
              <a:cs typeface="+mj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20486" y="2195394"/>
            <a:ext cx="6408063" cy="1367909"/>
          </a:xfrm>
          <a:prstGeom prst="roundRect">
            <a:avLst>
              <a:gd name="adj" fmla="val 6964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3790" y="2164913"/>
            <a:ext cx="121920" cy="1367909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2456121" y="2422208"/>
            <a:ext cx="43969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ar-YE" sz="22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الحجم المستهدف (</a:t>
            </a:r>
            <a:r>
              <a:rPr lang="en-US" sz="22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(Volume Calculation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51084" y="2912626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20L</a:t>
            </a:r>
            <a:endParaRPr lang="en-US" sz="1750" dirty="0">
              <a:cs typeface="+mj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428667" y="3759637"/>
            <a:ext cx="6407944" cy="1367909"/>
          </a:xfrm>
          <a:prstGeom prst="roundRect">
            <a:avLst>
              <a:gd name="adj" fmla="val 6964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28667" y="3759637"/>
            <a:ext cx="121920" cy="1367909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9537405" y="3963878"/>
            <a:ext cx="40419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ar-YE" sz="22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زاوية الراحة</a:t>
            </a:r>
            <a:r>
              <a:rPr lang="en-US" sz="22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Angle of Repose) </a:t>
            </a:r>
            <a:r>
              <a:rPr lang="ar-YE" sz="22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)للمادة.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94617" y="4386252"/>
            <a:ext cx="6184699" cy="621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Angle of repose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YE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:عادةً منخفضة بالنسبة للحبوب الحرة ( 30°–36°)</a:t>
            </a:r>
          </a:p>
          <a:p>
            <a:pPr marL="342900" marR="0" lvl="0" indent="-34290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YE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لكن القياسات تعتمد على منشأ العيّنة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9945" y="584954"/>
            <a:ext cx="7656909" cy="106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منهجية العمل وتسلسل العمليات (Methodology )</a:t>
            </a:r>
            <a:endParaRPr 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24579" y="1965841"/>
            <a:ext cx="1062276" cy="156376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956363" y="2178248"/>
            <a:ext cx="2655808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منهجية التصميم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5323114" y="2637592"/>
            <a:ext cx="7289057" cy="679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البحث النظري ← الحسابات الرياضية ← النمذجة (CAD) ← المحاكاة (Simulation) ← </a:t>
            </a:r>
            <a:r>
              <a:rPr lang="ar-YE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 </a:t>
            </a:r>
            <a:endParaRPr lang="en-US" sz="1650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+mj-cs"/>
            </a:endParaRPr>
          </a:p>
          <a:p>
            <a:pPr algn="r" rtl="1">
              <a:lnSpc>
                <a:spcPts val="2650"/>
              </a:lnSpc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← </a:t>
            </a:r>
            <a:r>
              <a:rPr lang="en-US" sz="16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التنفيذ</a:t>
            </a: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.</a:t>
            </a:r>
            <a:endParaRPr lang="en-US" sz="1650" dirty="0">
              <a:cs typeface="+mj-cs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24579" y="3529608"/>
            <a:ext cx="1062276" cy="156376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956363" y="3742015"/>
            <a:ext cx="2655808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هيكلية الفريق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6229945" y="4201358"/>
            <a:ext cx="6382226" cy="679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توزيع المهام على 6 مهندسين لتغطية الأنظمة </a:t>
            </a:r>
            <a:r>
              <a:rPr lang="en-US" sz="16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الفرعية</a:t>
            </a: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ar-YE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(</a:t>
            </a:r>
            <a:r>
              <a:rPr lang="en-US" sz="16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الميكانيكا</a:t>
            </a: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، التحكم، القدرة، </a:t>
            </a:r>
            <a:r>
              <a:rPr lang="en-US" sz="16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الهيكل</a:t>
            </a:r>
            <a:r>
              <a:rPr lang="ar-YE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)</a:t>
            </a: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.</a:t>
            </a:r>
            <a:endParaRPr lang="en-US" sz="1650" dirty="0">
              <a:cs typeface="+mj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15533" y="537210"/>
            <a:ext cx="10173057" cy="487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الدراسة النظرية: نظام </a:t>
            </a:r>
            <a:r>
              <a:rPr lang="en-US" sz="3050" b="1" dirty="0" err="1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التعبئة</a:t>
            </a:r>
            <a:r>
              <a:rPr lang="en-US" sz="305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 </a:t>
            </a:r>
            <a:r>
              <a:rPr lang="en-US" sz="3050" b="1" dirty="0" err="1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الحلزوني</a:t>
            </a:r>
            <a:r>
              <a:rPr lang="ar-YE" sz="305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 والقادوس</a:t>
            </a:r>
            <a:r>
              <a:rPr lang="en-US" sz="305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 (Auger Dosing System &amp; The Hopper)</a:t>
            </a:r>
            <a:endParaRPr lang="en-US" sz="3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54485" y="1722122"/>
            <a:ext cx="7251077" cy="528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450"/>
              </a:lnSpc>
              <a:buNone/>
            </a:pPr>
            <a:r>
              <a:rPr lang="en-US" sz="15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تم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اعتماد الـ Auger Screw</a:t>
            </a:r>
            <a:r>
              <a:rPr lang="ar-YE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لدقته العالية في التعامل مع المساحيق </a:t>
            </a:r>
            <a:r>
              <a:rPr lang="en-US" sz="15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وتجنب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en-US" sz="15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التطاير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(Dusting)</a:t>
            </a:r>
            <a:r>
              <a:rPr lang="ar-YE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.</a:t>
            </a:r>
            <a:endParaRPr lang="en-US" sz="1500" dirty="0">
              <a:cs typeface="+mj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9981215" y="1268472"/>
            <a:ext cx="3550920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400"/>
              </a:lnSpc>
              <a:buFont typeface="Wingdings" panose="05000000000000000000" pitchFamily="2" charset="2"/>
              <a:buChar char="q"/>
            </a:pPr>
            <a:r>
              <a:rPr lang="en-US" sz="2100" b="1" dirty="0" err="1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تصميم</a:t>
            </a:r>
            <a:r>
              <a:rPr 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 </a:t>
            </a:r>
            <a:r>
              <a:rPr lang="ar-YE" sz="21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اللولب :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682238" y="5580808"/>
            <a:ext cx="7555982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450"/>
              </a:lnSpc>
              <a:buNone/>
            </a:pPr>
            <a:r>
              <a:rPr lang="ar-YE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المواصفات :</a:t>
            </a:r>
          </a:p>
          <a:p>
            <a:pPr marL="0" indent="0" algn="r" rtl="1">
              <a:lnSpc>
                <a:spcPts val="2450"/>
              </a:lnSpc>
              <a:buNone/>
            </a:pPr>
            <a:r>
              <a:rPr lang="ar-YE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   </a:t>
            </a:r>
            <a:r>
              <a:rPr lang="en-US" sz="15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سعة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20</a:t>
            </a:r>
            <a:r>
              <a:rPr lang="ar-YE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لتر، وزاوية ميلان 60°</a:t>
            </a:r>
            <a:r>
              <a:rPr lang="ar-YE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لضمان تدفق الكتلة (Mass Flow)</a:t>
            </a:r>
            <a:r>
              <a:rPr lang="ar-YE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en-US" sz="15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ومنع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</a:t>
            </a:r>
            <a:r>
              <a:rPr lang="en-US" sz="15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التجسر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+mj-cs"/>
              </a:rPr>
              <a:t> (Bridging).</a:t>
            </a:r>
            <a:endParaRPr lang="en-US" sz="1500" dirty="0">
              <a:cs typeface="+mj-cs"/>
            </a:endParaRPr>
          </a:p>
        </p:txBody>
      </p:sp>
      <p:pic>
        <p:nvPicPr>
          <p:cNvPr id="9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8387" y="4250881"/>
            <a:ext cx="5935266" cy="3684805"/>
          </a:xfrm>
          <a:prstGeom prst="rect">
            <a:avLst/>
          </a:prstGeom>
        </p:spPr>
      </p:pic>
      <p:sp>
        <p:nvSpPr>
          <p:cNvPr id="11" name="Text 4">
            <a:extLst>
              <a:ext uri="{FF2B5EF4-FFF2-40B4-BE49-F238E27FC236}">
                <a16:creationId xmlns:a16="http://schemas.microsoft.com/office/drawing/2014/main" id="{7C45A2C2-9E52-8955-7504-98A9E5BD568B}"/>
              </a:ext>
            </a:extLst>
          </p:cNvPr>
          <p:cNvSpPr/>
          <p:nvPr/>
        </p:nvSpPr>
        <p:spPr bwMode="auto">
          <a:xfrm>
            <a:off x="6614173" y="6735127"/>
            <a:ext cx="6474023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200"/>
              </a:lnSpc>
              <a:buSzPct val="100000"/>
              <a:buChar char="•"/>
              <a:defRPr/>
            </a:pPr>
            <a:r>
              <a:rPr lang="en-US" sz="1500" dirty="0" err="1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التجسر</a:t>
            </a:r>
            <a:r>
              <a:rPr lang="en-US" sz="1500" dirty="0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 (Arching/Bridging): </a:t>
            </a:r>
            <a:r>
              <a:rPr lang="en-US" sz="1500" dirty="0" err="1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تكون</a:t>
            </a:r>
            <a:r>
              <a:rPr lang="en-US" sz="1500" dirty="0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جسر</a:t>
            </a:r>
            <a:r>
              <a:rPr lang="en-US" sz="1500" dirty="0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صلب</a:t>
            </a:r>
            <a:r>
              <a:rPr lang="en-US" sz="1500" dirty="0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يوقف</a:t>
            </a:r>
            <a:r>
              <a:rPr lang="en-US" sz="1500" dirty="0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التدفق</a:t>
            </a:r>
            <a:r>
              <a:rPr lang="en-US" sz="1500" dirty="0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54558B02-7C52-4F21-2F34-966294FE5697}"/>
              </a:ext>
            </a:extLst>
          </p:cNvPr>
          <p:cNvSpPr/>
          <p:nvPr/>
        </p:nvSpPr>
        <p:spPr bwMode="auto">
          <a:xfrm>
            <a:off x="6614173" y="7082551"/>
            <a:ext cx="6474023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200"/>
              </a:lnSpc>
              <a:buSzPct val="100000"/>
              <a:buChar char="•"/>
              <a:defRPr/>
            </a:pPr>
            <a:r>
              <a:rPr lang="en-US" sz="1500" dirty="0" err="1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قناة</a:t>
            </a:r>
            <a:r>
              <a:rPr lang="en-US" sz="1500" dirty="0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الانسياق</a:t>
            </a:r>
            <a:r>
              <a:rPr lang="en-US" sz="1500" dirty="0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 (Rat-holing): </a:t>
            </a:r>
            <a:r>
              <a:rPr lang="en-US" sz="1500" dirty="0" err="1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تدفق</a:t>
            </a:r>
            <a:r>
              <a:rPr lang="en-US" sz="1500" dirty="0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مركزي</a:t>
            </a:r>
            <a:r>
              <a:rPr lang="en-US" sz="1500" dirty="0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مع</a:t>
            </a:r>
            <a:r>
              <a:rPr lang="en-US" sz="1500" dirty="0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بقاء</a:t>
            </a:r>
            <a:r>
              <a:rPr lang="en-US" sz="1500" dirty="0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المادة</a:t>
            </a:r>
            <a:r>
              <a:rPr lang="en-US" sz="1500" dirty="0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على</a:t>
            </a:r>
            <a:r>
              <a:rPr lang="en-US" sz="1500" dirty="0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الجوانب</a:t>
            </a:r>
            <a:r>
              <a:rPr lang="en-US" sz="1500" dirty="0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1D7176F9-3B7C-1F3F-B9BF-8A75DA62FC57}"/>
              </a:ext>
            </a:extLst>
          </p:cNvPr>
          <p:cNvSpPr/>
          <p:nvPr/>
        </p:nvSpPr>
        <p:spPr bwMode="auto">
          <a:xfrm>
            <a:off x="6614173" y="7429975"/>
            <a:ext cx="6474023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200"/>
              </a:lnSpc>
              <a:buSzPct val="100000"/>
              <a:buChar char="•"/>
              <a:defRPr/>
            </a:pPr>
            <a:r>
              <a:rPr lang="en-US" sz="1500" dirty="0" err="1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التكتل</a:t>
            </a:r>
            <a:r>
              <a:rPr lang="en-US" sz="1500" dirty="0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 (Caking): </a:t>
            </a:r>
            <a:r>
              <a:rPr lang="en-US" sz="1500" dirty="0" err="1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تكون</a:t>
            </a:r>
            <a:r>
              <a:rPr lang="en-US" sz="1500" dirty="0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كتل</a:t>
            </a:r>
            <a:r>
              <a:rPr lang="en-US" sz="1500" dirty="0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صلبة</a:t>
            </a:r>
            <a:r>
              <a:rPr lang="en-US" sz="1500" dirty="0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بسبب</a:t>
            </a:r>
            <a:r>
              <a:rPr lang="en-US" sz="1500" dirty="0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الرطوبة</a:t>
            </a:r>
            <a:r>
              <a:rPr lang="en-US" sz="1500" dirty="0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أو</a:t>
            </a:r>
            <a:r>
              <a:rPr lang="en-US" sz="1500" dirty="0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الضغط</a:t>
            </a:r>
            <a:r>
              <a:rPr lang="en-US" sz="1500" dirty="0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6BE9C2E6-1FAD-032F-9257-37F50D36C70A}"/>
              </a:ext>
            </a:extLst>
          </p:cNvPr>
          <p:cNvSpPr/>
          <p:nvPr/>
        </p:nvSpPr>
        <p:spPr bwMode="auto">
          <a:xfrm>
            <a:off x="6750042" y="5171204"/>
            <a:ext cx="6474023" cy="570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200"/>
              </a:lnSpc>
              <a:buNone/>
              <a:defRPr/>
            </a:pPr>
            <a:r>
              <a:rPr lang="ar-YE" sz="1500" dirty="0">
                <a:latin typeface="Times New Roman" panose="02020603050405020304" pitchFamily="18" charset="0"/>
                <a:ea typeface="Inter Bold"/>
                <a:cs typeface="Roboto"/>
              </a:rPr>
              <a:t>هو </a:t>
            </a:r>
            <a:r>
              <a:rPr lang="en-US" sz="1500" dirty="0" err="1">
                <a:latin typeface="Times New Roman" panose="02020603050405020304" pitchFamily="18" charset="0"/>
                <a:ea typeface="Inter Bold"/>
                <a:cs typeface="Roboto"/>
              </a:rPr>
              <a:t>خزان</a:t>
            </a:r>
            <a:r>
              <a:rPr lang="en-US" sz="1500" dirty="0">
                <a:latin typeface="Times New Roman" panose="02020603050405020304" pitchFamily="18" charset="0"/>
                <a:ea typeface="Inter Bold"/>
                <a:cs typeface="Roboto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Inter Bold"/>
                <a:cs typeface="Roboto"/>
              </a:rPr>
              <a:t>مؤقت</a:t>
            </a:r>
            <a:r>
              <a:rPr lang="en-US" sz="1500" dirty="0">
                <a:latin typeface="Times New Roman" panose="02020603050405020304" pitchFamily="18" charset="0"/>
                <a:ea typeface="Inter Bold"/>
                <a:cs typeface="Roboto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Inter Bold"/>
                <a:cs typeface="Roboto"/>
              </a:rPr>
              <a:t>يضمن</a:t>
            </a:r>
            <a:r>
              <a:rPr lang="en-US" sz="1500" dirty="0">
                <a:latin typeface="Times New Roman" panose="02020603050405020304" pitchFamily="18" charset="0"/>
                <a:ea typeface="Inter Bold"/>
                <a:cs typeface="Roboto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Inter Bold"/>
                <a:cs typeface="Roboto"/>
              </a:rPr>
              <a:t>توفير</a:t>
            </a:r>
            <a:r>
              <a:rPr lang="en-US" sz="1500" dirty="0">
                <a:latin typeface="Times New Roman" panose="02020603050405020304" pitchFamily="18" charset="0"/>
                <a:ea typeface="Inter Bold"/>
                <a:cs typeface="Roboto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Inter Bold"/>
                <a:cs typeface="Roboto"/>
              </a:rPr>
              <a:t>ثابت</a:t>
            </a:r>
            <a:r>
              <a:rPr lang="en-US" sz="1500" dirty="0">
                <a:latin typeface="Times New Roman" panose="02020603050405020304" pitchFamily="18" charset="0"/>
                <a:ea typeface="Inter Bold"/>
                <a:cs typeface="Roboto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Inter Bold"/>
                <a:cs typeface="Roboto"/>
              </a:rPr>
              <a:t>للملح</a:t>
            </a:r>
            <a:r>
              <a:rPr lang="en-US" sz="1500" dirty="0">
                <a:latin typeface="Times New Roman" panose="02020603050405020304" pitchFamily="18" charset="0"/>
                <a:ea typeface="Inter Bold"/>
                <a:cs typeface="Roboto"/>
              </a:rPr>
              <a:t> ل</a:t>
            </a:r>
            <a:r>
              <a:rPr lang="ar-YE" sz="1500" dirty="0">
                <a:latin typeface="Times New Roman" panose="02020603050405020304" pitchFamily="18" charset="0"/>
                <a:ea typeface="Inter Bold"/>
                <a:cs typeface="Roboto"/>
              </a:rPr>
              <a:t>لولب</a:t>
            </a:r>
            <a:r>
              <a:rPr lang="en-US" sz="1500" dirty="0">
                <a:latin typeface="Times New Roman" panose="02020603050405020304" pitchFamily="18" charset="0"/>
                <a:ea typeface="Inter Bold"/>
                <a:cs typeface="Roboto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Inter Bold"/>
                <a:cs typeface="Roboto"/>
              </a:rPr>
              <a:t>التغذية</a:t>
            </a:r>
            <a:r>
              <a:rPr lang="en-US" sz="1500" dirty="0">
                <a:latin typeface="Times New Roman" panose="02020603050405020304" pitchFamily="18" charset="0"/>
                <a:ea typeface="Inter Bold"/>
                <a:cs typeface="Roboto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Inter Bold"/>
                <a:cs typeface="Roboto"/>
              </a:rPr>
              <a:t>بهدف</a:t>
            </a:r>
            <a:r>
              <a:rPr lang="en-US" sz="1500" dirty="0">
                <a:latin typeface="Times New Roman" panose="02020603050405020304" pitchFamily="18" charset="0"/>
                <a:ea typeface="Inter Bold"/>
                <a:cs typeface="Roboto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Inter Bold"/>
                <a:cs typeface="Roboto"/>
              </a:rPr>
              <a:t>تحقيق</a:t>
            </a:r>
            <a:r>
              <a:rPr lang="en-US" sz="1500" dirty="0">
                <a:latin typeface="Times New Roman" panose="02020603050405020304" pitchFamily="18" charset="0"/>
                <a:ea typeface="Inter Bold"/>
                <a:cs typeface="Roboto"/>
              </a:rPr>
              <a:t> "</a:t>
            </a:r>
            <a:r>
              <a:rPr lang="en-US" sz="1500" dirty="0" err="1">
                <a:latin typeface="Times New Roman" panose="02020603050405020304" pitchFamily="18" charset="0"/>
                <a:ea typeface="Inter Bold"/>
                <a:cs typeface="Roboto"/>
              </a:rPr>
              <a:t>التدفق</a:t>
            </a:r>
            <a:r>
              <a:rPr lang="en-US" sz="1500" dirty="0">
                <a:latin typeface="Times New Roman" panose="02020603050405020304" pitchFamily="18" charset="0"/>
                <a:ea typeface="Inter Bold"/>
                <a:cs typeface="Roboto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Inter Bold"/>
                <a:cs typeface="Roboto"/>
              </a:rPr>
              <a:t>الكلي</a:t>
            </a:r>
            <a:r>
              <a:rPr lang="en-US" sz="1500" dirty="0">
                <a:latin typeface="Times New Roman" panose="02020603050405020304" pitchFamily="18" charset="0"/>
                <a:ea typeface="Inter Bold"/>
                <a:cs typeface="Roboto"/>
              </a:rPr>
              <a:t>" (Mass Flow).</a:t>
            </a:r>
            <a:endParaRPr lang="en-US" sz="1500" dirty="0">
              <a:latin typeface="Times New Roman" panose="02020603050405020304" pitchFamily="18" charset="0"/>
              <a:ea typeface="Inter Bold"/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C154DA60-0D88-BB5B-270E-2A0387C5DA00}"/>
              </a:ext>
            </a:extLst>
          </p:cNvPr>
          <p:cNvSpPr/>
          <p:nvPr/>
        </p:nvSpPr>
        <p:spPr bwMode="auto">
          <a:xfrm>
            <a:off x="10947554" y="6343957"/>
            <a:ext cx="2227778" cy="27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150"/>
              </a:lnSpc>
              <a:buNone/>
              <a:defRPr/>
            </a:pPr>
            <a:r>
              <a:rPr lang="en-US" sz="1500" b="1" dirty="0" err="1">
                <a:latin typeface="Roboto Medium"/>
                <a:ea typeface="Roboto Medium"/>
                <a:cs typeface="+mj-cs"/>
              </a:rPr>
              <a:t>مشاكل</a:t>
            </a:r>
            <a:r>
              <a:rPr lang="en-US" sz="1500" b="1" dirty="0">
                <a:latin typeface="Roboto Medium"/>
                <a:ea typeface="Roboto Medium"/>
                <a:cs typeface="+mj-cs"/>
              </a:rPr>
              <a:t> </a:t>
            </a:r>
            <a:r>
              <a:rPr lang="en-US" sz="1500" b="1" dirty="0" err="1">
                <a:latin typeface="Roboto Medium"/>
                <a:ea typeface="Roboto Medium"/>
                <a:cs typeface="+mj-cs"/>
              </a:rPr>
              <a:t>التدفق</a:t>
            </a:r>
            <a:r>
              <a:rPr lang="ar-YE" sz="1500" b="1" dirty="0">
                <a:latin typeface="Roboto Medium"/>
                <a:ea typeface="Roboto Medium"/>
                <a:cs typeface="+mj-cs"/>
              </a:rPr>
              <a:t>:</a:t>
            </a:r>
            <a:endParaRPr lang="en-US" sz="1500" b="1" dirty="0">
              <a:cs typeface="+mj-cs"/>
            </a:endParaRPr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EDB170E4-EACC-055D-EFCC-9446A0AA1275}"/>
              </a:ext>
            </a:extLst>
          </p:cNvPr>
          <p:cNvSpPr/>
          <p:nvPr/>
        </p:nvSpPr>
        <p:spPr bwMode="auto">
          <a:xfrm>
            <a:off x="9057114" y="4586420"/>
            <a:ext cx="4455676" cy="556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4350"/>
              </a:lnSpc>
              <a:buFont typeface="Wingdings" panose="05000000000000000000" pitchFamily="2" charset="2"/>
              <a:buChar char="q"/>
              <a:defRPr/>
            </a:pPr>
            <a:r>
              <a:rPr lang="en-US" sz="2100" b="1" dirty="0" err="1"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تصميم</a:t>
            </a:r>
            <a:r>
              <a:rPr lang="en-US" sz="2100" b="1" dirty="0"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 </a:t>
            </a:r>
            <a:r>
              <a:rPr lang="en-US" sz="2100" b="1" dirty="0" err="1"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الهوبر</a:t>
            </a:r>
            <a:r>
              <a:rPr lang="en-US" sz="2100" b="1" dirty="0"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 :(Hopper)</a:t>
            </a: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B9E1327A-4319-E37E-0636-542DDB829A04}"/>
              </a:ext>
            </a:extLst>
          </p:cNvPr>
          <p:cNvSpPr/>
          <p:nvPr/>
        </p:nvSpPr>
        <p:spPr bwMode="auto">
          <a:xfrm>
            <a:off x="11124502" y="2130943"/>
            <a:ext cx="2113717" cy="26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050"/>
              </a:lnSpc>
              <a:buNone/>
              <a:defRPr/>
            </a:pPr>
            <a:r>
              <a:rPr lang="en-US" sz="1500" b="1" dirty="0" err="1">
                <a:latin typeface="Times New Roman" panose="02020603050405020304" pitchFamily="18" charset="0"/>
                <a:ea typeface="Roboto Medium"/>
                <a:cs typeface="+mj-cs"/>
              </a:rPr>
              <a:t>الحجم</a:t>
            </a:r>
            <a:r>
              <a:rPr lang="en-US" sz="1500" b="1" dirty="0">
                <a:latin typeface="Times New Roman" panose="02020603050405020304" pitchFamily="18" charset="0"/>
                <a:ea typeface="Roboto Medium"/>
                <a:cs typeface="+mj-cs"/>
              </a:rPr>
              <a:t> </a:t>
            </a:r>
            <a:r>
              <a:rPr lang="en-US" sz="1500" b="1" dirty="0" err="1">
                <a:latin typeface="Times New Roman" panose="02020603050405020304" pitchFamily="18" charset="0"/>
                <a:ea typeface="Roboto Medium"/>
                <a:cs typeface="+mj-cs"/>
              </a:rPr>
              <a:t>الهندسي</a:t>
            </a:r>
            <a:r>
              <a:rPr lang="en-US" sz="1500" b="1" dirty="0">
                <a:latin typeface="Times New Roman" panose="02020603050405020304" pitchFamily="18" charset="0"/>
                <a:ea typeface="Roboto Medium"/>
                <a:cs typeface="+mj-cs"/>
              </a:rPr>
              <a:t> </a:t>
            </a:r>
            <a:r>
              <a:rPr lang="en-US" sz="1500" b="1" dirty="0" err="1">
                <a:latin typeface="Times New Roman" panose="02020603050405020304" pitchFamily="18" charset="0"/>
                <a:ea typeface="Roboto Medium"/>
                <a:cs typeface="+mj-cs"/>
              </a:rPr>
              <a:t>النظري</a:t>
            </a:r>
            <a:r>
              <a:rPr lang="ar-YE" sz="1500" b="1" dirty="0">
                <a:latin typeface="Times New Roman" panose="02020603050405020304" pitchFamily="18" charset="0"/>
                <a:ea typeface="Roboto Medium"/>
                <a:cs typeface="+mj-cs"/>
              </a:rPr>
              <a:t>:</a:t>
            </a:r>
            <a:endParaRPr lang="en-US" sz="1500" b="1" dirty="0"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A33439AD-A64E-1C0E-1AEC-28A593A5E429}"/>
              </a:ext>
            </a:extLst>
          </p:cNvPr>
          <p:cNvSpPr/>
          <p:nvPr/>
        </p:nvSpPr>
        <p:spPr bwMode="auto">
          <a:xfrm>
            <a:off x="5520040" y="2496464"/>
            <a:ext cx="7576661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  <a:defRPr/>
            </a:pPr>
            <a:r>
              <a:rPr lang="en-US" sz="15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يحدد</a:t>
            </a:r>
            <a:r>
              <a:rPr lang="en-US" sz="15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حجم</a:t>
            </a:r>
            <a:r>
              <a:rPr lang="en-US" sz="15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الملح</a:t>
            </a:r>
            <a:r>
              <a:rPr lang="en-US" sz="15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المنقول</a:t>
            </a:r>
            <a:r>
              <a:rPr lang="en-US" sz="15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لكل</a:t>
            </a:r>
            <a:r>
              <a:rPr lang="en-US" sz="15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دورة</a:t>
            </a:r>
            <a:r>
              <a:rPr lang="en-US" sz="15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بناءً</a:t>
            </a:r>
            <a:r>
              <a:rPr lang="en-US" sz="15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على</a:t>
            </a:r>
            <a:r>
              <a:rPr lang="en-US" sz="15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قطر</a:t>
            </a:r>
            <a:r>
              <a:rPr lang="en-US" sz="15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اللولب</a:t>
            </a:r>
            <a:r>
              <a:rPr lang="en-US" sz="15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وعمق</a:t>
            </a:r>
            <a:r>
              <a:rPr lang="en-US" sz="15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الخطوة</a:t>
            </a:r>
            <a:r>
              <a:rPr lang="en-US" sz="15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9E96D3C-088E-8E59-A1E3-5676EBFC6892}"/>
              </a:ext>
            </a:extLst>
          </p:cNvPr>
          <p:cNvSpPr/>
          <p:nvPr/>
        </p:nvSpPr>
        <p:spPr bwMode="auto">
          <a:xfrm>
            <a:off x="11145182" y="2921599"/>
            <a:ext cx="2113717" cy="26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050"/>
              </a:lnSpc>
              <a:buNone/>
              <a:defRPr/>
            </a:pPr>
            <a:r>
              <a:rPr lang="en-US" sz="1500" b="1" dirty="0" err="1">
                <a:latin typeface="Times New Roman" panose="02020603050405020304" pitchFamily="18" charset="0"/>
                <a:ea typeface="Roboto Medium"/>
                <a:cs typeface="+mj-cs"/>
              </a:rPr>
              <a:t>الكتلة</a:t>
            </a:r>
            <a:r>
              <a:rPr lang="en-US" sz="1500" b="1" dirty="0">
                <a:latin typeface="Times New Roman" panose="02020603050405020304" pitchFamily="18" charset="0"/>
                <a:ea typeface="Roboto Medium"/>
                <a:cs typeface="+mj-cs"/>
              </a:rPr>
              <a:t> </a:t>
            </a:r>
            <a:r>
              <a:rPr lang="en-US" sz="1500" b="1" dirty="0" err="1">
                <a:latin typeface="Times New Roman" panose="02020603050405020304" pitchFamily="18" charset="0"/>
                <a:ea typeface="Roboto Medium"/>
                <a:cs typeface="+mj-cs"/>
              </a:rPr>
              <a:t>المنقولة</a:t>
            </a:r>
            <a:r>
              <a:rPr lang="ar-YE" sz="1500" b="1" dirty="0">
                <a:latin typeface="Times New Roman" panose="02020603050405020304" pitchFamily="18" charset="0"/>
                <a:ea typeface="Roboto Medium"/>
                <a:cs typeface="+mj-cs"/>
              </a:rPr>
              <a:t>:</a:t>
            </a:r>
            <a:endParaRPr lang="en-US" sz="1500" b="1" dirty="0"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A2D55EA1-21F9-FC6D-3CD4-7920458434C5}"/>
              </a:ext>
            </a:extLst>
          </p:cNvPr>
          <p:cNvSpPr/>
          <p:nvPr/>
        </p:nvSpPr>
        <p:spPr bwMode="auto">
          <a:xfrm>
            <a:off x="5540720" y="3287121"/>
            <a:ext cx="7576661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  <a:defRPr/>
            </a:pPr>
            <a:r>
              <a:rPr lang="en-US" sz="15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تحسب</a:t>
            </a:r>
            <a:r>
              <a:rPr lang="en-US" sz="15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الكتلة</a:t>
            </a:r>
            <a:r>
              <a:rPr lang="en-US" sz="15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الفعلية</a:t>
            </a:r>
            <a:r>
              <a:rPr lang="en-US" sz="15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لكل</a:t>
            </a:r>
            <a:r>
              <a:rPr lang="en-US" sz="15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دورة</a:t>
            </a:r>
            <a:r>
              <a:rPr lang="en-US" sz="15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بأخذ</a:t>
            </a:r>
            <a:r>
              <a:rPr lang="en-US" sz="15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الكثافة</a:t>
            </a:r>
            <a:r>
              <a:rPr lang="en-US" sz="15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الحجمية</a:t>
            </a:r>
            <a:r>
              <a:rPr lang="en-US" sz="15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للملح</a:t>
            </a:r>
            <a:r>
              <a:rPr lang="en-US" sz="15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وكفاءة</a:t>
            </a:r>
            <a:r>
              <a:rPr lang="en-US" sz="15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الملء</a:t>
            </a:r>
            <a:r>
              <a:rPr lang="en-US" sz="15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(60%) </a:t>
            </a:r>
            <a:r>
              <a:rPr lang="en-US" sz="15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في</a:t>
            </a:r>
            <a:r>
              <a:rPr lang="en-US" sz="15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الاعتبار</a:t>
            </a:r>
            <a:r>
              <a:rPr lang="en-US" sz="15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23">
            <a:extLst>
              <a:ext uri="{FF2B5EF4-FFF2-40B4-BE49-F238E27FC236}">
                <a16:creationId xmlns:a16="http://schemas.microsoft.com/office/drawing/2014/main" id="{65C75CC8-E215-FA17-1C07-02493B6AB4CF}"/>
              </a:ext>
            </a:extLst>
          </p:cNvPr>
          <p:cNvSpPr/>
          <p:nvPr/>
        </p:nvSpPr>
        <p:spPr bwMode="auto">
          <a:xfrm>
            <a:off x="11101635" y="3612102"/>
            <a:ext cx="2113717" cy="26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050"/>
              </a:lnSpc>
              <a:buNone/>
              <a:defRPr/>
            </a:pPr>
            <a:r>
              <a:rPr lang="en-US" sz="1500" b="1" dirty="0" err="1">
                <a:latin typeface="Times New Roman" panose="02020603050405020304" pitchFamily="18" charset="0"/>
                <a:ea typeface="Roboto Medium"/>
                <a:cs typeface="+mj-cs"/>
              </a:rPr>
              <a:t>الأبعاد</a:t>
            </a:r>
            <a:r>
              <a:rPr lang="en-US" sz="1500" b="1" dirty="0">
                <a:latin typeface="Times New Roman" panose="02020603050405020304" pitchFamily="18" charset="0"/>
                <a:ea typeface="Roboto Medium"/>
                <a:cs typeface="+mj-cs"/>
              </a:rPr>
              <a:t> </a:t>
            </a:r>
            <a:r>
              <a:rPr lang="en-US" sz="1500" b="1" dirty="0" err="1">
                <a:latin typeface="Times New Roman" panose="02020603050405020304" pitchFamily="18" charset="0"/>
                <a:ea typeface="Roboto Medium"/>
                <a:cs typeface="+mj-cs"/>
              </a:rPr>
              <a:t>النهائية</a:t>
            </a:r>
            <a:r>
              <a:rPr lang="ar-YE" sz="1500" b="1" dirty="0">
                <a:latin typeface="Times New Roman" panose="02020603050405020304" pitchFamily="18" charset="0"/>
                <a:ea typeface="Roboto Medium"/>
                <a:cs typeface="+mj-cs"/>
              </a:rPr>
              <a:t>:</a:t>
            </a:r>
            <a:endParaRPr lang="en-US" sz="1500" b="1" dirty="0"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2" name="Text 24">
            <a:extLst>
              <a:ext uri="{FF2B5EF4-FFF2-40B4-BE49-F238E27FC236}">
                <a16:creationId xmlns:a16="http://schemas.microsoft.com/office/drawing/2014/main" id="{822A4397-9353-A950-07CF-5DD09FC43710}"/>
              </a:ext>
            </a:extLst>
          </p:cNvPr>
          <p:cNvSpPr/>
          <p:nvPr/>
        </p:nvSpPr>
        <p:spPr bwMode="auto">
          <a:xfrm>
            <a:off x="5497173" y="3977624"/>
            <a:ext cx="7576661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  <a:defRPr/>
            </a:pPr>
            <a:r>
              <a:rPr lang="en-US" sz="15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طول</a:t>
            </a:r>
            <a:r>
              <a:rPr lang="en-US" sz="15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فعال</a:t>
            </a:r>
            <a:r>
              <a:rPr lang="en-US" sz="15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240 </a:t>
            </a:r>
            <a:r>
              <a:rPr lang="en-US" sz="15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مم</a:t>
            </a:r>
            <a:r>
              <a:rPr lang="en-US" sz="15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، </a:t>
            </a:r>
            <a:r>
              <a:rPr lang="en-US" sz="15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طول</a:t>
            </a:r>
            <a:r>
              <a:rPr lang="en-US" sz="15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كلي</a:t>
            </a:r>
            <a:r>
              <a:rPr lang="en-US" sz="15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360 </a:t>
            </a:r>
            <a:r>
              <a:rPr lang="en-US" sz="15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مم</a:t>
            </a:r>
            <a:r>
              <a:rPr lang="en-US" sz="15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، </a:t>
            </a:r>
            <a:r>
              <a:rPr lang="en-US" sz="15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ارتفاع</a:t>
            </a:r>
            <a:r>
              <a:rPr lang="en-US" sz="15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ريشة</a:t>
            </a:r>
            <a:r>
              <a:rPr lang="en-US" sz="15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22 </a:t>
            </a:r>
            <a:r>
              <a:rPr lang="en-US" sz="15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مم</a:t>
            </a:r>
            <a:r>
              <a:rPr lang="en-US" sz="15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، </a:t>
            </a:r>
            <a:r>
              <a:rPr lang="en-US" sz="15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سمك</a:t>
            </a:r>
            <a:r>
              <a:rPr lang="en-US" sz="15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4 </a:t>
            </a:r>
            <a:r>
              <a:rPr lang="en-US" sz="15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مم</a:t>
            </a:r>
            <a:r>
              <a:rPr lang="en-US" sz="15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D08F9E8-23D0-4AD2-9377-C706EDFE3FF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89756" y="1599549"/>
            <a:ext cx="5572125" cy="24203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512629" y="357653"/>
            <a:ext cx="5791200" cy="583074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96187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4450"/>
              </a:lnSpc>
              <a:buNone/>
            </a:pPr>
            <a:r>
              <a:rPr lang="en-US" sz="3550" b="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الدراسة</a:t>
            </a: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3550" b="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النظرية</a:t>
            </a:r>
            <a:r>
              <a:rPr lang="ar-YE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:</a:t>
            </a: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ar-YE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3550" b="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وحدة</a:t>
            </a: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التشكيل وسحب الفيلم (Forming &amp; Pulling Unit)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227030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r" rtl="1">
              <a:lnSpc>
                <a:spcPts val="2850"/>
              </a:lnSpc>
              <a:buFont typeface="Wingdings" panose="05000000000000000000" pitchFamily="2" charset="2"/>
              <a:buChar char="q"/>
            </a:pP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ياقة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التشكيل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(Forming Shoulder)</a:t>
            </a:r>
            <a:r>
              <a:rPr lang="ar-YE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تصميم هندسي لتحويل الفيلم من المسطح (Flat) إلى الأنبوبي (Tubular) دون إحداث إجهاد تمزيق.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327302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r" rtl="1">
              <a:lnSpc>
                <a:spcPts val="2850"/>
              </a:lnSpc>
              <a:buFont typeface="Wingdings" panose="05000000000000000000" pitchFamily="2" charset="2"/>
              <a:buChar char="q"/>
            </a:pP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حسابات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السحب: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386931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تحليل قوى الاحتكاك بين الفيلم وأنبوب التشكيل.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431150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r" rtl="1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حساب العزم اللازم لمحركات الأحزمة (Pulling Belts) للتغلب على الاحتكاك ووزن الفيلم.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481349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r" rtl="1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نوع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الأحزمة: استخدام أحزمة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احتكاك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مطاطية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(Friction Belts) لضمان سحب منتظم دون انزلاق.</a:t>
            </a:r>
            <a:endParaRPr lang="en-US" sz="17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923594-5467-FA51-14EB-E30EB9F914E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13798" y="5557158"/>
            <a:ext cx="6515100" cy="8667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FDBCFE-AABF-63A9-503B-963598D111C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13798" y="6510517"/>
            <a:ext cx="6515100" cy="8762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779F6C-C9EE-2980-AAB8-C57E52E36C8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402910" y="7516582"/>
            <a:ext cx="6515100" cy="5429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2A9001A-2396-ACD0-9790-CEE45D496C4B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7152049" y="6537159"/>
            <a:ext cx="6515100" cy="5333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23899B7-6DDE-47BD-A51D-B7849D36F120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7152049" y="7269368"/>
            <a:ext cx="6515100" cy="7238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6549" y="898684"/>
            <a:ext cx="1287006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الدراسة النظرية: نظام الختم والقطع (Sealing &amp; Cutting Mechanics)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428667" y="1919288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921734" y="215372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08900" y="2340769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66941" y="3060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آلية الختم الطولي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663101" y="3551396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ts val="2850"/>
              </a:lnSpc>
            </a:pP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ترددي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(Reciprocating)</a:t>
            </a:r>
            <a:r>
              <a:rPr lang="ar-YE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لتثبيت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شكل الأنبوب.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3790" y="1919288"/>
            <a:ext cx="6408063" cy="2592348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86976" y="215372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4143" y="2340769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32183" y="3060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آلية الختم العرضي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1028224" y="3551396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ترددي</a:t>
            </a:r>
            <a:r>
              <a:rPr lang="ar-YE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ومزدوج 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(Reciprocating &amp; Double)، يعمل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بضغط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هوائي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(Pneumatic) لضمان قوة إغلاق عالية.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428667" y="4738449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2921734" y="49728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108900" y="5159931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766941" y="58801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الديناميكا الحرارية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7663101" y="6370558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تحديد درجة حرارة الفكوك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وزمن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البقاء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(Dwell Time) بناءً على سماكة ونوع فيلم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ـ OPP</a:t>
            </a:r>
            <a:r>
              <a:rPr lang="ar-YE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93790" y="4738449"/>
            <a:ext cx="6408063" cy="2592348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286976" y="49728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4143" y="5159931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132183" y="58801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آلية القطع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1028224" y="6370558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سكين مسننة (Serrated Blade) مدمجة في الفك العرضي تعمل ميكانيكياً عند إتمام الختم.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7502" y="1179909"/>
            <a:ext cx="1286910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الحسابات الميكانيكية واختيار المحركات (Motor Sizing &amp; Actuators)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9640252" y="2200513"/>
            <a:ext cx="4196358" cy="4849058"/>
          </a:xfrm>
          <a:prstGeom prst="roundRect">
            <a:avLst>
              <a:gd name="adj" fmla="val 22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921734" y="243494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08900" y="2621994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80308" y="3342203"/>
            <a:ext cx="35218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محرك اللولب (Auger Motor)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874687" y="3832622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r" rtl="1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حساب العزم (Torque): تم حساب عزم الاحتكاك وعزم القصور الذاتي لعمود اللولب بوجود حمل الملح المضغوط.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7081" y="2200513"/>
            <a:ext cx="4196358" cy="4849058"/>
          </a:xfrm>
          <a:prstGeom prst="roundRect">
            <a:avLst>
              <a:gd name="adj" fmla="val 22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98562" y="243494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85728" y="2621994"/>
            <a:ext cx="306110" cy="3061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51515" y="3342203"/>
            <a:ext cx="37274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محركات السحب (Pulling Motors)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451515" y="3860387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r" rtl="1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المتطلبات: عزم كافٍ للتغلب على احتكاك الفيلم مع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أنبوب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التشكيل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(Coefficient of friction µ).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5451515" y="5028386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r" rtl="1">
              <a:lnSpc>
                <a:spcPts val="2850"/>
              </a:lnSpc>
              <a:buSzPct val="100000"/>
              <a:buChar char="•"/>
            </a:pP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السرعة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r>
              <a:rPr lang="ar-YE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يجب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أن تتوافق السرعة الخطية للأحزمة مع معدل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الإنتاج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ar-YE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كيس/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دقيقة</a:t>
            </a:r>
            <a:r>
              <a:rPr lang="ar-YE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50" dirty="0"/>
          </a:p>
        </p:txBody>
      </p:sp>
      <p:sp>
        <p:nvSpPr>
          <p:cNvPr id="15" name="Shape 11"/>
          <p:cNvSpPr/>
          <p:nvPr/>
        </p:nvSpPr>
        <p:spPr>
          <a:xfrm>
            <a:off x="793909" y="2200513"/>
            <a:ext cx="4196358" cy="4849058"/>
          </a:xfrm>
          <a:prstGeom prst="roundRect">
            <a:avLst>
              <a:gd name="adj" fmla="val 22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075390" y="243494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62557" y="2621994"/>
            <a:ext cx="306110" cy="30611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20597" y="33422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نظام الفكوك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1028343" y="3832622"/>
            <a:ext cx="372749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استخدام أسطوانات نيوماتيكية (Pneumatic Cylinders) بدلاً من المحركات لسرعة الاستجابة وقوة الضغط العالية (High Clamping Force) اللازمة للختم.</a:t>
            </a:r>
            <a:endParaRPr lang="en-US" sz="175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D718937A-EEBC-293D-2669-36AD7D9449AB}"/>
              </a:ext>
            </a:extLst>
          </p:cNvPr>
          <p:cNvSpPr/>
          <p:nvPr/>
        </p:nvSpPr>
        <p:spPr>
          <a:xfrm>
            <a:off x="5649962" y="5973779"/>
            <a:ext cx="3504188" cy="357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r" rtl="1">
              <a:lnSpc>
                <a:spcPts val="2450"/>
              </a:lnSpc>
              <a:buSzPct val="100000"/>
              <a:buChar char="•"/>
            </a:pPr>
            <a:r>
              <a:rPr lang="en-US" sz="15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الاختيار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r>
              <a:rPr lang="ar-YE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5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محرك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5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خطوي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(Stepper Motor)</a:t>
            </a:r>
            <a:r>
              <a:rPr lang="ar-YE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endParaRPr lang="en-US" sz="1500" dirty="0"/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C80896D2-037B-084A-670D-0AE6D513CF68}"/>
              </a:ext>
            </a:extLst>
          </p:cNvPr>
          <p:cNvSpPr/>
          <p:nvPr/>
        </p:nvSpPr>
        <p:spPr>
          <a:xfrm>
            <a:off x="9647873" y="5058682"/>
            <a:ext cx="3954184" cy="145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r" rtl="1">
              <a:lnSpc>
                <a:spcPts val="2450"/>
              </a:lnSpc>
              <a:buSzPct val="100000"/>
              <a:buChar char="•"/>
            </a:pPr>
            <a:r>
              <a:rPr lang="en-US" sz="15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الاختيار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r>
              <a:rPr lang="ar-YE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محرك </a:t>
            </a:r>
            <a:r>
              <a:rPr lang="en-US" sz="15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سيرفو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(Servo)</a:t>
            </a:r>
            <a:r>
              <a:rPr lang="en-US" sz="15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لضمان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دقة زاوية الدوران (Positioning Control) وبالتالي </a:t>
            </a:r>
            <a:r>
              <a:rPr lang="en-US" sz="15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دقة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5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الوزن</a:t>
            </a:r>
            <a:r>
              <a:rPr lang="ar-YE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</a:p>
          <a:p>
            <a:pPr marL="342900" indent="-342900" algn="r" rtl="1">
              <a:lnSpc>
                <a:spcPts val="2450"/>
              </a:lnSpc>
              <a:buSzPct val="100000"/>
              <a:buChar char="•"/>
            </a:pPr>
            <a:r>
              <a:rPr lang="ar-YE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أو </a:t>
            </a:r>
            <a:r>
              <a:rPr lang="en-US" sz="15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محرك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5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خطوي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(Stepper Motor)</a:t>
            </a:r>
            <a:r>
              <a:rPr lang="ar-YE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لتقليل تكاليف التنفيذ.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0">
            <a:extLst>
              <a:ext uri="{FF2B5EF4-FFF2-40B4-BE49-F238E27FC236}">
                <a16:creationId xmlns:a16="http://schemas.microsoft.com/office/drawing/2014/main" id="{17E823A8-A002-B8F2-B900-39D22BDA10D5}"/>
              </a:ext>
            </a:extLst>
          </p:cNvPr>
          <p:cNvSpPr/>
          <p:nvPr/>
        </p:nvSpPr>
        <p:spPr bwMode="auto">
          <a:xfrm>
            <a:off x="4899303" y="409575"/>
            <a:ext cx="3723442" cy="465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3650"/>
              </a:lnSpc>
              <a:buNone/>
              <a:defRPr/>
            </a:pPr>
            <a:r>
              <a:rPr lang="en-US" sz="3500" b="1" dirty="0" err="1">
                <a:latin typeface="Inter Bold"/>
                <a:ea typeface="Roboto Medium"/>
                <a:cs typeface="Roboto Medium"/>
              </a:rPr>
              <a:t>تحليل</a:t>
            </a:r>
            <a:r>
              <a:rPr lang="en-US" sz="3500" b="1" dirty="0">
                <a:latin typeface="Inter Bold"/>
                <a:ea typeface="Roboto Medium"/>
                <a:cs typeface="Roboto Medium"/>
              </a:rPr>
              <a:t> </a:t>
            </a:r>
            <a:r>
              <a:rPr lang="en-US" sz="3500" b="1" dirty="0" err="1">
                <a:latin typeface="Inter Bold"/>
                <a:ea typeface="Roboto Medium"/>
                <a:cs typeface="Roboto Medium"/>
              </a:rPr>
              <a:t>العزم</a:t>
            </a:r>
            <a:r>
              <a:rPr lang="en-US" sz="3500" b="1" dirty="0">
                <a:latin typeface="Inter Bold"/>
                <a:ea typeface="Roboto Medium"/>
                <a:cs typeface="Roboto Medium"/>
              </a:rPr>
              <a:t> </a:t>
            </a:r>
            <a:r>
              <a:rPr lang="en-US" sz="3500" b="1" dirty="0" err="1">
                <a:latin typeface="Inter Bold"/>
                <a:ea typeface="Roboto Medium"/>
                <a:cs typeface="Roboto Medium"/>
              </a:rPr>
              <a:t>والقدرة</a:t>
            </a:r>
            <a:endParaRPr lang="en-US" sz="3500" b="1" dirty="0">
              <a:latin typeface="Inter Bold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528C9CDD-D747-DFFC-5818-EABBA31C3706}"/>
              </a:ext>
            </a:extLst>
          </p:cNvPr>
          <p:cNvSpPr/>
          <p:nvPr/>
        </p:nvSpPr>
        <p:spPr bwMode="auto">
          <a:xfrm>
            <a:off x="6147434" y="1850230"/>
            <a:ext cx="1861661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1800"/>
              </a:lnSpc>
              <a:buNone/>
              <a:defRPr/>
            </a:pPr>
            <a:r>
              <a:rPr lang="en-US" sz="2200" b="1" dirty="0" err="1"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القدرة</a:t>
            </a:r>
            <a:r>
              <a:rPr lang="en-US" sz="2200" b="1" dirty="0"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الأساسية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C9EB072B-C1DA-3F09-DACA-53D7DE6643BC}"/>
              </a:ext>
            </a:extLst>
          </p:cNvPr>
          <p:cNvSpPr/>
          <p:nvPr/>
        </p:nvSpPr>
        <p:spPr bwMode="auto">
          <a:xfrm>
            <a:off x="220502" y="2237611"/>
            <a:ext cx="7788593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1850"/>
              </a:lnSpc>
              <a:buNone/>
              <a:defRPr/>
            </a:pPr>
            <a:r>
              <a:rPr lang="en-US" sz="17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تقدر</a:t>
            </a:r>
            <a:r>
              <a:rPr lang="en-US" sz="17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بـ 10 </a:t>
            </a:r>
            <a:r>
              <a:rPr lang="en-US" sz="17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واط</a:t>
            </a:r>
            <a:r>
              <a:rPr lang="en-US" sz="17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، </a:t>
            </a:r>
            <a:r>
              <a:rPr lang="en-US" sz="17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مع</a:t>
            </a:r>
            <a:r>
              <a:rPr lang="en-US" sz="17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هامش</a:t>
            </a:r>
            <a:r>
              <a:rPr lang="en-US" sz="17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لضمان</a:t>
            </a:r>
            <a:r>
              <a:rPr lang="en-US" sz="17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التشغيل</a:t>
            </a:r>
            <a:r>
              <a:rPr lang="en-US" sz="17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المستقر</a:t>
            </a:r>
            <a:r>
              <a:rPr lang="en-US" sz="17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4D3F072-A235-71EB-A9AC-38AC34484A51}"/>
              </a:ext>
            </a:extLst>
          </p:cNvPr>
          <p:cNvSpPr/>
          <p:nvPr/>
        </p:nvSpPr>
        <p:spPr bwMode="auto">
          <a:xfrm>
            <a:off x="6147434" y="3108584"/>
            <a:ext cx="1861661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1800"/>
              </a:lnSpc>
              <a:buNone/>
              <a:defRPr/>
            </a:pPr>
            <a:r>
              <a:rPr lang="en-US" sz="2200" b="1" dirty="0" err="1"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العزم</a:t>
            </a:r>
            <a:r>
              <a:rPr lang="en-US" sz="2200" b="1" dirty="0"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المطلوب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CD36049-A105-8FEB-8F99-52EA9598A10D}"/>
              </a:ext>
            </a:extLst>
          </p:cNvPr>
          <p:cNvSpPr/>
          <p:nvPr/>
        </p:nvSpPr>
        <p:spPr bwMode="auto">
          <a:xfrm>
            <a:off x="220502" y="3572164"/>
            <a:ext cx="7788593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1850"/>
              </a:lnSpc>
              <a:buNone/>
              <a:defRPr/>
            </a:pPr>
            <a:r>
              <a:rPr lang="en-US" sz="17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حوالي</a:t>
            </a:r>
            <a:r>
              <a:rPr lang="en-US" sz="17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2.7 </a:t>
            </a:r>
            <a:r>
              <a:rPr lang="en-US" sz="17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نيوتن</a:t>
            </a:r>
            <a:r>
              <a:rPr lang="en-US" sz="17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متر</a:t>
            </a:r>
            <a:r>
              <a:rPr lang="en-US" sz="17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)</a:t>
            </a:r>
            <a:r>
              <a:rPr lang="en-US" sz="17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أعلى</a:t>
            </a:r>
            <a:r>
              <a:rPr lang="en-US" sz="17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قيمة</a:t>
            </a:r>
            <a:r>
              <a:rPr lang="en-US" sz="17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عند</a:t>
            </a:r>
            <a:r>
              <a:rPr lang="en-US" sz="17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أقل</a:t>
            </a:r>
            <a:r>
              <a:rPr lang="en-US" sz="17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سرعة</a:t>
            </a:r>
            <a:r>
              <a:rPr lang="en-US" sz="17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(.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065FE76B-306C-EA9D-B288-9D5FDA832010}"/>
              </a:ext>
            </a:extLst>
          </p:cNvPr>
          <p:cNvSpPr/>
          <p:nvPr/>
        </p:nvSpPr>
        <p:spPr bwMode="auto">
          <a:xfrm>
            <a:off x="6147434" y="4595541"/>
            <a:ext cx="1861661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1800"/>
              </a:lnSpc>
              <a:buNone/>
              <a:defRPr/>
            </a:pPr>
            <a:r>
              <a:rPr lang="en-US" sz="2200" b="1" dirty="0" err="1"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السرعة</a:t>
            </a:r>
            <a:r>
              <a:rPr lang="en-US" sz="2200" b="1" dirty="0"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المطلوبة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0A444D62-6E7A-B39D-8A64-58FBA715210D}"/>
              </a:ext>
            </a:extLst>
          </p:cNvPr>
          <p:cNvSpPr/>
          <p:nvPr/>
        </p:nvSpPr>
        <p:spPr bwMode="auto">
          <a:xfrm>
            <a:off x="220502" y="5080888"/>
            <a:ext cx="7788593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1850"/>
              </a:lnSpc>
              <a:buNone/>
              <a:defRPr/>
            </a:pPr>
            <a:r>
              <a:rPr lang="en-US" sz="17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حوالي</a:t>
            </a:r>
            <a:r>
              <a:rPr lang="en-US" sz="17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100 </a:t>
            </a:r>
            <a:r>
              <a:rPr lang="en-US" sz="17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دورة</a:t>
            </a:r>
            <a:r>
              <a:rPr lang="en-US" sz="17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في</a:t>
            </a:r>
            <a:r>
              <a:rPr lang="en-US" sz="17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الدقيقة</a:t>
            </a:r>
            <a:r>
              <a:rPr lang="en-US" sz="17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للتشغيل</a:t>
            </a:r>
            <a:r>
              <a:rPr lang="en-US" sz="17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المستقر</a:t>
            </a:r>
            <a:r>
              <a:rPr lang="en-US" sz="17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4EEC713E-9B96-4F42-C710-650A9505205B}"/>
              </a:ext>
            </a:extLst>
          </p:cNvPr>
          <p:cNvSpPr/>
          <p:nvPr/>
        </p:nvSpPr>
        <p:spPr bwMode="auto">
          <a:xfrm>
            <a:off x="6147434" y="6104262"/>
            <a:ext cx="1861661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1800"/>
              </a:lnSpc>
              <a:buNone/>
              <a:defRPr/>
            </a:pPr>
            <a:r>
              <a:rPr lang="en-US" sz="2200" b="1" dirty="0" err="1"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درجة</a:t>
            </a:r>
            <a:r>
              <a:rPr lang="en-US" sz="2200" b="1" dirty="0"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الحماية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12429047-2A86-ADC9-54FB-6833247E047C}"/>
              </a:ext>
            </a:extLst>
          </p:cNvPr>
          <p:cNvSpPr/>
          <p:nvPr/>
        </p:nvSpPr>
        <p:spPr bwMode="auto">
          <a:xfrm>
            <a:off x="220502" y="6556959"/>
            <a:ext cx="7788593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50"/>
              </a:lnSpc>
              <a:buNone/>
              <a:defRPr/>
            </a:pPr>
            <a:r>
              <a:rPr lang="en-US" sz="17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IP55 (</a:t>
            </a:r>
            <a:r>
              <a:rPr lang="en-US" sz="17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ضد</a:t>
            </a:r>
            <a:r>
              <a:rPr lang="en-US" sz="17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الغبار</a:t>
            </a:r>
            <a:r>
              <a:rPr lang="en-US" sz="17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ودفعات</a:t>
            </a:r>
            <a:r>
              <a:rPr lang="en-US" sz="17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الماء</a:t>
            </a:r>
            <a:r>
              <a:rPr lang="en-US" sz="17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).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06BDEEA-AC8F-ECB1-6F25-E76EFA5B06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0211802" y="253088"/>
            <a:ext cx="2965784" cy="255746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4910AF0-0DE7-0B4E-160D-D2E1AA7B6EE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017541" y="2878018"/>
            <a:ext cx="2500562" cy="276768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E80FD82-BF76-1639-268D-75FC78D9C5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702841" y="2878018"/>
            <a:ext cx="2877552" cy="276768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0477E1E-2FC3-FFAD-8D32-5090A4074CC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9480896" y="5731549"/>
            <a:ext cx="4620101" cy="2175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065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4818" y="882729"/>
            <a:ext cx="672179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تسلسل عمل الآلة (Process Logic)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2540" y="1903333"/>
            <a:ext cx="1134070" cy="13608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40491" y="21301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سحب الفيلم وتشكيله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2540" y="3264218"/>
            <a:ext cx="1134070" cy="13608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40491" y="34910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الختم الطولي والعرضي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2540" y="4625102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994577" y="4851916"/>
            <a:ext cx="34811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قياس الوزن (Dosing) بالتزامن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2540" y="5985986"/>
            <a:ext cx="1134070" cy="136088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640491" y="62128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القطع والإخراج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0">
            <a:extLst>
              <a:ext uri="{FF2B5EF4-FFF2-40B4-BE49-F238E27FC236}">
                <a16:creationId xmlns:a16="http://schemas.microsoft.com/office/drawing/2014/main" id="{2E7B99A8-A9D2-6850-188E-D62C7ED3FA9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 rot="16200000">
            <a:off x="407320" y="1776693"/>
            <a:ext cx="7229906" cy="48876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84105" y="791356"/>
            <a:ext cx="6917787" cy="35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2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التصميم الميكانيكي ثلاثي الأبعاد (3D CAD Design)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529112" y="2169417"/>
            <a:ext cx="5103675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400"/>
              </a:lnSpc>
              <a:buNone/>
            </a:pPr>
            <a:r>
              <a:rPr lang="en-US" sz="17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تم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تصميم وتجميع كافة أجزاء الآلة باستخدام برنامج (SolidWorks).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0711538" y="2868004"/>
            <a:ext cx="1964787" cy="362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1350"/>
              </a:lnSpc>
              <a:buNone/>
            </a:pPr>
            <a:r>
              <a:rPr lang="en-US" sz="2200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الميزات</a:t>
            </a:r>
            <a:r>
              <a:rPr lang="en-US" sz="22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التصميمية: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594427" y="3212568"/>
            <a:ext cx="5103675" cy="221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1400"/>
              </a:lnSpc>
              <a:buSzPct val="100000"/>
              <a:buChar char="•"/>
            </a:pPr>
            <a:r>
              <a:rPr lang="en-US" sz="17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تصميم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Modularity</a:t>
            </a:r>
            <a:r>
              <a:rPr lang="ar-YE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ar-YE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</a:t>
            </a:r>
            <a:r>
              <a:rPr lang="en-US" sz="17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قابلية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الفك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والتركيب</a:t>
            </a:r>
            <a:r>
              <a:rPr lang="ar-YE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r>
              <a:rPr lang="en-US" sz="17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لتسهيل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الصيانة.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249814" y="3640498"/>
            <a:ext cx="344828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14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إطار هيكلي (Chassis) مدعم لتقليل الاهتزازات أثناء التشغيل.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249814" y="4068421"/>
            <a:ext cx="344828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14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موضع خزان التعبئة (Hopper) في الأعلى للاستفادة من الجاذبية.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47112" y="5135982"/>
            <a:ext cx="5843147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400"/>
              </a:lnSpc>
              <a:buNone/>
            </a:pPr>
            <a:r>
              <a:rPr lang="en-US" sz="17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تجهيز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ملفات </a:t>
            </a:r>
            <a:r>
              <a:rPr lang="en-US" sz="17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التصنيع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ar-YE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والطباعة، </a:t>
            </a:r>
            <a:r>
              <a:rPr lang="en-US" sz="17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ورسومات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التشغيل (Shop Drawings)</a:t>
            </a:r>
            <a:r>
              <a:rPr lang="ar-YE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00" dirty="0"/>
          </a:p>
        </p:txBody>
      </p:sp>
      <p:pic>
        <p:nvPicPr>
          <p:cNvPr id="9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4029" y="1561239"/>
            <a:ext cx="4824420" cy="284823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3728561" y="8273891"/>
            <a:ext cx="717339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أثبتت المحاكاة التزامن الصحيح بين إشارة التحكم وحركة الأسطوانات دون تداخل.</a:t>
            </a:r>
            <a:endParaRPr lang="en-US" sz="850" dirty="0"/>
          </a:p>
        </p:txBody>
      </p:sp>
      <p:pic>
        <p:nvPicPr>
          <p:cNvPr id="24" name="Image 0">
            <a:extLst>
              <a:ext uri="{FF2B5EF4-FFF2-40B4-BE49-F238E27FC236}">
                <a16:creationId xmlns:a16="http://schemas.microsoft.com/office/drawing/2014/main" id="{6F269927-B28B-2913-23E2-D125879AEA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888"/>
          <a:stretch>
            <a:fillRect/>
          </a:stretch>
        </p:blipFill>
        <p:spPr>
          <a:xfrm>
            <a:off x="578958" y="5024947"/>
            <a:ext cx="2365392" cy="246536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3FC1AD4-77B7-6338-A8A1-247D36531A8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3204060" y="5024948"/>
            <a:ext cx="2364723" cy="2465366"/>
          </a:xfrm>
          <a:prstGeom prst="rect">
            <a:avLst/>
          </a:prstGeom>
        </p:spPr>
      </p:pic>
      <p:sp>
        <p:nvSpPr>
          <p:cNvPr id="31" name="Text 1">
            <a:extLst>
              <a:ext uri="{FF2B5EF4-FFF2-40B4-BE49-F238E27FC236}">
                <a16:creationId xmlns:a16="http://schemas.microsoft.com/office/drawing/2014/main" id="{09C47E9A-9CAD-CED8-AC3E-3DC5188B6C2F}"/>
              </a:ext>
            </a:extLst>
          </p:cNvPr>
          <p:cNvSpPr/>
          <p:nvPr/>
        </p:nvSpPr>
        <p:spPr>
          <a:xfrm>
            <a:off x="8958938" y="1583394"/>
            <a:ext cx="3717387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/>
            <a:r>
              <a:rPr lang="en-US" sz="2200" dirty="0" err="1"/>
              <a:t>التجميع</a:t>
            </a:r>
            <a:r>
              <a:rPr lang="en-US" sz="2200" dirty="0"/>
              <a:t> </a:t>
            </a:r>
            <a:r>
              <a:rPr lang="en-US" sz="2200" dirty="0" err="1"/>
              <a:t>الكلي</a:t>
            </a:r>
            <a:r>
              <a:rPr lang="en-US" sz="2200" dirty="0"/>
              <a:t> (Full Assembly)</a:t>
            </a:r>
            <a:r>
              <a:rPr lang="ar-YE" sz="2200" dirty="0"/>
              <a:t>:</a:t>
            </a:r>
            <a:endParaRPr lang="en-US" sz="2200" dirty="0">
              <a:effectLst/>
            </a:endParaRPr>
          </a:p>
        </p:txBody>
      </p:sp>
      <p:sp>
        <p:nvSpPr>
          <p:cNvPr id="32" name="Text 2">
            <a:extLst>
              <a:ext uri="{FF2B5EF4-FFF2-40B4-BE49-F238E27FC236}">
                <a16:creationId xmlns:a16="http://schemas.microsoft.com/office/drawing/2014/main" id="{63233BDA-53B9-F083-0A77-B1A2D2D51BA9}"/>
              </a:ext>
            </a:extLst>
          </p:cNvPr>
          <p:cNvSpPr/>
          <p:nvPr/>
        </p:nvSpPr>
        <p:spPr>
          <a:xfrm>
            <a:off x="10450385" y="4719592"/>
            <a:ext cx="2239877" cy="471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ts val="1350"/>
              </a:lnSpc>
            </a:pPr>
            <a:r>
              <a:rPr lang="en-US" sz="2200" dirty="0" err="1"/>
              <a:t>مخرجات</a:t>
            </a:r>
            <a:r>
              <a:rPr lang="en-US" sz="2200" dirty="0"/>
              <a:t> </a:t>
            </a:r>
            <a:r>
              <a:rPr lang="en-US" sz="2200" dirty="0" err="1"/>
              <a:t>التصميم</a:t>
            </a:r>
            <a:r>
              <a:rPr lang="en-US" sz="2200" dirty="0"/>
              <a:t>: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>
            <a:extLst>
              <a:ext uri="{FF2B5EF4-FFF2-40B4-BE49-F238E27FC236}">
                <a16:creationId xmlns:a16="http://schemas.microsoft.com/office/drawing/2014/main" id="{6F4C0F73-F136-17F5-1739-DAA5590189E9}"/>
              </a:ext>
            </a:extLst>
          </p:cNvPr>
          <p:cNvSpPr/>
          <p:nvPr/>
        </p:nvSpPr>
        <p:spPr>
          <a:xfrm>
            <a:off x="3799114" y="1008792"/>
            <a:ext cx="9748073" cy="475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2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التحليل الهندسي والمحاكاة الميكانيكية (FEA &amp; Stress Analysis)</a:t>
            </a:r>
            <a:endParaRPr lang="en-US" sz="2800" dirty="0"/>
          </a:p>
        </p:txBody>
      </p:sp>
      <p:sp>
        <p:nvSpPr>
          <p:cNvPr id="3" name="Text 8">
            <a:extLst>
              <a:ext uri="{FF2B5EF4-FFF2-40B4-BE49-F238E27FC236}">
                <a16:creationId xmlns:a16="http://schemas.microsoft.com/office/drawing/2014/main" id="{35DE0366-BBEE-4C8C-D837-B0A2B872ED7E}"/>
              </a:ext>
            </a:extLst>
          </p:cNvPr>
          <p:cNvSpPr/>
          <p:nvPr/>
        </p:nvSpPr>
        <p:spPr>
          <a:xfrm>
            <a:off x="5992789" y="1678583"/>
            <a:ext cx="717339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14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الهدف: التأكد من متانة الهيكل وقدرته على تحمل أوزان المكونات والاهتزازات الديناميكية.</a:t>
            </a:r>
            <a:endParaRPr lang="en-US" sz="1700" dirty="0"/>
          </a:p>
        </p:txBody>
      </p:sp>
      <p:sp>
        <p:nvSpPr>
          <p:cNvPr id="4" name="Text 9">
            <a:extLst>
              <a:ext uri="{FF2B5EF4-FFF2-40B4-BE49-F238E27FC236}">
                <a16:creationId xmlns:a16="http://schemas.microsoft.com/office/drawing/2014/main" id="{78E9B2DD-2E9F-6B82-6BEA-A41A475A0653}"/>
              </a:ext>
            </a:extLst>
          </p:cNvPr>
          <p:cNvSpPr/>
          <p:nvPr/>
        </p:nvSpPr>
        <p:spPr>
          <a:xfrm>
            <a:off x="5992789" y="2085521"/>
            <a:ext cx="717339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14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تحليل الإجهادات (Von Mises Stress): تم إجراء محاكاة للأجزاء </a:t>
            </a:r>
            <a:r>
              <a:rPr lang="en-US" sz="17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الحرجة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ar-YE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</a:t>
            </a:r>
            <a:r>
              <a:rPr lang="en-US" sz="17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مثل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ar-YE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شفرات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القادوس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و</a:t>
            </a:r>
            <a:r>
              <a:rPr lang="ar-YE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اللولب و</a:t>
            </a:r>
            <a:r>
              <a:rPr lang="en-US" sz="17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أعمدة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الهيكل</a:t>
            </a:r>
            <a:r>
              <a:rPr lang="ar-YE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Text 10">
            <a:extLst>
              <a:ext uri="{FF2B5EF4-FFF2-40B4-BE49-F238E27FC236}">
                <a16:creationId xmlns:a16="http://schemas.microsoft.com/office/drawing/2014/main" id="{91F9F32C-9327-4AD6-B4B1-A88CE7A35ED5}"/>
              </a:ext>
            </a:extLst>
          </p:cNvPr>
          <p:cNvSpPr/>
          <p:nvPr/>
        </p:nvSpPr>
        <p:spPr>
          <a:xfrm>
            <a:off x="11748628" y="2676486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13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النتائج:</a:t>
            </a:r>
            <a:endParaRPr lang="en-US" sz="2200" dirty="0"/>
          </a:p>
        </p:txBody>
      </p:sp>
      <p:sp>
        <p:nvSpPr>
          <p:cNvPr id="6" name="Text 11">
            <a:extLst>
              <a:ext uri="{FF2B5EF4-FFF2-40B4-BE49-F238E27FC236}">
                <a16:creationId xmlns:a16="http://schemas.microsoft.com/office/drawing/2014/main" id="{30114DF9-1D10-44DD-17C3-6C4256ECE0F5}"/>
              </a:ext>
            </a:extLst>
          </p:cNvPr>
          <p:cNvSpPr/>
          <p:nvPr/>
        </p:nvSpPr>
        <p:spPr>
          <a:xfrm>
            <a:off x="5992789" y="3110749"/>
            <a:ext cx="717339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14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معامل الأمان (Safety Factor)</a:t>
            </a:r>
            <a:r>
              <a:rPr lang="ar-YE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&lt;=</a:t>
            </a:r>
            <a:r>
              <a:rPr lang="ar-YE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2.5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، مما يضمن تشغيلاً آمناً طويل الأمد.</a:t>
            </a:r>
            <a:endParaRPr lang="en-US" sz="1700" dirty="0"/>
          </a:p>
        </p:txBody>
      </p:sp>
      <p:sp>
        <p:nvSpPr>
          <p:cNvPr id="7" name="Text 12">
            <a:extLst>
              <a:ext uri="{FF2B5EF4-FFF2-40B4-BE49-F238E27FC236}">
                <a16:creationId xmlns:a16="http://schemas.microsoft.com/office/drawing/2014/main" id="{A2D674F4-57FB-D646-70C6-70180C2A617D}"/>
              </a:ext>
            </a:extLst>
          </p:cNvPr>
          <p:cNvSpPr/>
          <p:nvPr/>
        </p:nvSpPr>
        <p:spPr>
          <a:xfrm>
            <a:off x="5992789" y="3495136"/>
            <a:ext cx="717339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14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التشوهات (Displacement) ضمن الحدود المسموح بها ولا تؤثر على دقة الآلة.</a:t>
            </a:r>
            <a:endParaRPr lang="en-US" sz="1700" dirty="0"/>
          </a:p>
        </p:txBody>
      </p:sp>
      <p:sp>
        <p:nvSpPr>
          <p:cNvPr id="8" name="Text 13">
            <a:extLst>
              <a:ext uri="{FF2B5EF4-FFF2-40B4-BE49-F238E27FC236}">
                <a16:creationId xmlns:a16="http://schemas.microsoft.com/office/drawing/2014/main" id="{9E9D4531-61D6-4BCD-CB08-FEFA150B15C7}"/>
              </a:ext>
            </a:extLst>
          </p:cNvPr>
          <p:cNvSpPr/>
          <p:nvPr/>
        </p:nvSpPr>
        <p:spPr>
          <a:xfrm>
            <a:off x="3004458" y="4507845"/>
            <a:ext cx="10542730" cy="485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2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النظام الهوائي والمحاكاة (Pneumatic System &amp; Automation Studio)</a:t>
            </a:r>
            <a:endParaRPr lang="en-US" sz="2800" dirty="0"/>
          </a:p>
        </p:txBody>
      </p:sp>
      <p:sp>
        <p:nvSpPr>
          <p:cNvPr id="9" name="Text 14">
            <a:extLst>
              <a:ext uri="{FF2B5EF4-FFF2-40B4-BE49-F238E27FC236}">
                <a16:creationId xmlns:a16="http://schemas.microsoft.com/office/drawing/2014/main" id="{FB3BD1DA-B537-3CD1-8E36-BF1C43E9C981}"/>
              </a:ext>
            </a:extLst>
          </p:cNvPr>
          <p:cNvSpPr/>
          <p:nvPr/>
        </p:nvSpPr>
        <p:spPr>
          <a:xfrm>
            <a:off x="5971017" y="5144680"/>
            <a:ext cx="717339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14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دائرة </a:t>
            </a:r>
            <a:r>
              <a:rPr lang="en-US" sz="17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التحكم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الهوائي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r>
              <a:rPr lang="ar-YE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تم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تصميم</a:t>
            </a:r>
            <a:r>
              <a:rPr lang="ar-YE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ومحاكاة </a:t>
            </a:r>
            <a:r>
              <a:rPr lang="en-US" sz="17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لدائرة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لتشغيل فكوك </a:t>
            </a:r>
            <a:r>
              <a:rPr lang="en-US" sz="17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الختم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والسكين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القاطعة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00" dirty="0"/>
          </a:p>
        </p:txBody>
      </p:sp>
      <p:sp>
        <p:nvSpPr>
          <p:cNvPr id="10" name="Text 15">
            <a:extLst>
              <a:ext uri="{FF2B5EF4-FFF2-40B4-BE49-F238E27FC236}">
                <a16:creationId xmlns:a16="http://schemas.microsoft.com/office/drawing/2014/main" id="{EBD7F466-90EE-1C40-8D0F-4F21225A787D}"/>
              </a:ext>
            </a:extLst>
          </p:cNvPr>
          <p:cNvSpPr/>
          <p:nvPr/>
        </p:nvSpPr>
        <p:spPr>
          <a:xfrm>
            <a:off x="5971017" y="5638705"/>
            <a:ext cx="717339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14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المكونات: </a:t>
            </a:r>
            <a:r>
              <a:rPr lang="en-US" sz="17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ضاغط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هواء</a:t>
            </a:r>
            <a:r>
              <a:rPr lang="ar-YE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Compressor</a:t>
            </a:r>
            <a:r>
              <a:rPr lang="ar-YE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، وحدة تحضير الهواء (FRL)، صمامات توجيهية (5/2 Solenoid Valves)، وأسطوانات مزدوجة الفعل.</a:t>
            </a:r>
            <a:endParaRPr lang="en-US" sz="1700" dirty="0"/>
          </a:p>
        </p:txBody>
      </p:sp>
      <p:sp>
        <p:nvSpPr>
          <p:cNvPr id="11" name="Text 16">
            <a:extLst>
              <a:ext uri="{FF2B5EF4-FFF2-40B4-BE49-F238E27FC236}">
                <a16:creationId xmlns:a16="http://schemas.microsoft.com/office/drawing/2014/main" id="{05C87095-D052-73A5-713F-AB3F41BDA741}"/>
              </a:ext>
            </a:extLst>
          </p:cNvPr>
          <p:cNvSpPr/>
          <p:nvPr/>
        </p:nvSpPr>
        <p:spPr>
          <a:xfrm>
            <a:off x="5971017" y="6350445"/>
            <a:ext cx="717339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140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Inter Bold"/>
                <a:ea typeface="Inter" pitchFamily="34" charset="-122"/>
                <a:cs typeface="Inter" pitchFamily="34" charset="-120"/>
              </a:rPr>
              <a:t>التحقق (Verification)</a:t>
            </a:r>
            <a:r>
              <a:rPr lang="ar-YE" sz="2200" dirty="0">
                <a:solidFill>
                  <a:srgbClr val="272525"/>
                </a:solidFill>
                <a:latin typeface="Inter Bold"/>
                <a:ea typeface="Inter" pitchFamily="34" charset="-122"/>
                <a:cs typeface="Inter" pitchFamily="34" charset="-120"/>
              </a:rPr>
              <a:t>:</a:t>
            </a:r>
            <a:endParaRPr lang="en-US" sz="2200" dirty="0">
              <a:latin typeface="Inter Bold"/>
            </a:endParaRPr>
          </a:p>
        </p:txBody>
      </p:sp>
      <p:sp>
        <p:nvSpPr>
          <p:cNvPr id="12" name="Text 17">
            <a:extLst>
              <a:ext uri="{FF2B5EF4-FFF2-40B4-BE49-F238E27FC236}">
                <a16:creationId xmlns:a16="http://schemas.microsoft.com/office/drawing/2014/main" id="{8846FBDE-59F5-5D12-7748-5F58C4AEBB71}"/>
              </a:ext>
            </a:extLst>
          </p:cNvPr>
          <p:cNvSpPr/>
          <p:nvPr/>
        </p:nvSpPr>
        <p:spPr>
          <a:xfrm>
            <a:off x="5971017" y="6868725"/>
            <a:ext cx="717339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14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تم بناء ومحاكاة الدائرة </a:t>
            </a:r>
            <a:r>
              <a:rPr lang="en-US" sz="17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باستخدام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برنامج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Automation Studio</a:t>
            </a:r>
            <a:r>
              <a:rPr lang="ar-YE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00" dirty="0"/>
          </a:p>
        </p:txBody>
      </p:sp>
      <p:sp>
        <p:nvSpPr>
          <p:cNvPr id="13" name="Text 18">
            <a:extLst>
              <a:ext uri="{FF2B5EF4-FFF2-40B4-BE49-F238E27FC236}">
                <a16:creationId xmlns:a16="http://schemas.microsoft.com/office/drawing/2014/main" id="{32214D28-2291-E2FC-511D-E9917DD23B6B}"/>
              </a:ext>
            </a:extLst>
          </p:cNvPr>
          <p:cNvSpPr/>
          <p:nvPr/>
        </p:nvSpPr>
        <p:spPr>
          <a:xfrm>
            <a:off x="6491899" y="7241927"/>
            <a:ext cx="6674287" cy="159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1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أثبتت المحاكاة التزامن الصحيح بين إشارة التحكم وحركة الأسطوانات دون تداخل.</a:t>
            </a:r>
            <a:endParaRPr lang="en-US" sz="1700" dirty="0"/>
          </a:p>
        </p:txBody>
      </p:sp>
      <p:pic>
        <p:nvPicPr>
          <p:cNvPr id="14" name="Image 0">
            <a:extLst>
              <a:ext uri="{FF2B5EF4-FFF2-40B4-BE49-F238E27FC236}">
                <a16:creationId xmlns:a16="http://schemas.microsoft.com/office/drawing/2014/main" id="{A8FB6B7A-B534-8A2B-E8EC-2D40B86C57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79" r="3379"/>
          <a:stretch/>
        </p:blipFill>
        <p:spPr>
          <a:xfrm>
            <a:off x="500743" y="1008792"/>
            <a:ext cx="3668485" cy="324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5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1589" y="711144"/>
            <a:ext cx="11680746" cy="488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نظام التحكم والمحاكاة الإلكترونية (Control Logic &amp; Wokwi Simulation)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11050310" y="1513403"/>
            <a:ext cx="2441138" cy="305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وحدة المعالجة: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553444" y="2013704"/>
            <a:ext cx="5938004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متحكم ESP32 </a:t>
            </a:r>
            <a:r>
              <a:rPr lang="ar-YE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</a:t>
            </a:r>
            <a:r>
              <a:rPr lang="en-US" sz="15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يتميز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5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بـWi-Fi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/Bluetooth لإمكانية </a:t>
            </a:r>
            <a:r>
              <a:rPr lang="en-US" sz="15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التطوير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5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لـIoT</a:t>
            </a:r>
            <a:r>
              <a:rPr lang="ar-YE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5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مستقبلاً</a:t>
            </a:r>
            <a:r>
              <a:rPr lang="ar-YE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050310" y="2521387"/>
            <a:ext cx="2441138" cy="305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خوارزمية التحكم: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553444" y="3021687"/>
            <a:ext cx="5938004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تعتمد على مقاطعات (Interrupts)</a:t>
            </a:r>
            <a:r>
              <a:rPr lang="en-US" sz="15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لحساسات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5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ـ Mark Sensors</a:t>
            </a:r>
            <a:r>
              <a:rPr lang="ar-YE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لضمان دقة قطع الكيس عند العلامة المطبوعة.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050310" y="3841790"/>
            <a:ext cx="2441138" cy="305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محاكاة الدوائر: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553444" y="4342090"/>
            <a:ext cx="5938004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تم تصميم ومحاكاة دائرة التحكم كاملة على موقع Wokwi.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553444" y="4722852"/>
            <a:ext cx="5938004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r" rtl="1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تم اختبار كود التحكم مع </a:t>
            </a:r>
            <a:r>
              <a:rPr lang="en-US" sz="15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المكونات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5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الافتراضية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(Drivers, Sensors, LCD)</a:t>
            </a:r>
            <a:r>
              <a:rPr lang="ar-YE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575216" y="5895003"/>
            <a:ext cx="5938004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النتيجة: الكود يعمل بنجاح ويحقق التسلسل المنطقي (Logic) المطلوب.</a:t>
            </a:r>
            <a:endParaRPr lang="en-US" sz="1500" dirty="0"/>
          </a:p>
        </p:txBody>
      </p:sp>
      <p:pic>
        <p:nvPicPr>
          <p:cNvPr id="11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31332" y="1937504"/>
            <a:ext cx="5938004" cy="4715736"/>
          </a:xfrm>
          <a:prstGeom prst="rect">
            <a:avLst/>
          </a:prstGeom>
        </p:spPr>
      </p:pic>
      <p:sp>
        <p:nvSpPr>
          <p:cNvPr id="12" name="Text 6">
            <a:extLst>
              <a:ext uri="{FF2B5EF4-FFF2-40B4-BE49-F238E27FC236}">
                <a16:creationId xmlns:a16="http://schemas.microsoft.com/office/drawing/2014/main" id="{5032B084-86C5-5AE7-8E94-C2F290850F9D}"/>
              </a:ext>
            </a:extLst>
          </p:cNvPr>
          <p:cNvSpPr/>
          <p:nvPr/>
        </p:nvSpPr>
        <p:spPr>
          <a:xfrm>
            <a:off x="8425543" y="5169405"/>
            <a:ext cx="5076791" cy="624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450"/>
              </a:lnSpc>
              <a:buSzPct val="100000"/>
              <a:buChar char="•"/>
            </a:pPr>
            <a:r>
              <a:rPr lang="ar-YE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تم تصميم نظام محاكاة لنظام الختم والسخانات في برنامج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    </a:t>
            </a:r>
            <a:r>
              <a:rPr lang="en-US" sz="15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Matlab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 </a:t>
            </a:r>
          </a:p>
          <a:p>
            <a:pPr algn="r" rtl="1">
              <a:lnSpc>
                <a:spcPts val="2450"/>
              </a:lnSpc>
              <a:buSzPct val="100000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      </a:t>
            </a:r>
            <a:r>
              <a:rPr lang="ar-YE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وتصميم 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PID Controller</a:t>
            </a:r>
            <a:r>
              <a:rPr lang="ar-YE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 للتحكم به.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 </a:t>
            </a:r>
            <a:r>
              <a:rPr lang="ar-YE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 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>
            <a:extLst>
              <a:ext uri="{FF2B5EF4-FFF2-40B4-BE49-F238E27FC236}">
                <a16:creationId xmlns:a16="http://schemas.microsoft.com/office/drawing/2014/main" id="{34D7DAD2-F2D9-32FA-F514-105BF9748201}"/>
              </a:ext>
            </a:extLst>
          </p:cNvPr>
          <p:cNvSpPr/>
          <p:nvPr/>
        </p:nvSpPr>
        <p:spPr bwMode="auto">
          <a:xfrm>
            <a:off x="3309937" y="1713667"/>
            <a:ext cx="3767852" cy="471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3700"/>
              </a:lnSpc>
              <a:buNone/>
              <a:defRPr/>
            </a:pPr>
            <a:r>
              <a:rPr lang="en-US" sz="2000" b="1" dirty="0" err="1">
                <a:latin typeface="Roboto Medium"/>
                <a:ea typeface="Roboto Medium"/>
                <a:cs typeface="Roboto Medium"/>
              </a:rPr>
              <a:t>التوصيات</a:t>
            </a:r>
            <a:r>
              <a:rPr lang="ar-YE" sz="2000" b="1" dirty="0">
                <a:latin typeface="Roboto Medium"/>
                <a:ea typeface="Roboto Medium"/>
                <a:cs typeface="Roboto Medium"/>
              </a:rPr>
              <a:t>:</a:t>
            </a:r>
            <a:endParaRPr lang="en-US" sz="2000" b="1" dirty="0"/>
          </a:p>
        </p:txBody>
      </p:sp>
      <p:sp>
        <p:nvSpPr>
          <p:cNvPr id="3" name="Text 16">
            <a:extLst>
              <a:ext uri="{FF2B5EF4-FFF2-40B4-BE49-F238E27FC236}">
                <a16:creationId xmlns:a16="http://schemas.microsoft.com/office/drawing/2014/main" id="{693F0391-E71F-409F-4C77-3613047F0CC4}"/>
              </a:ext>
            </a:extLst>
          </p:cNvPr>
          <p:cNvSpPr/>
          <p:nvPr/>
        </p:nvSpPr>
        <p:spPr bwMode="auto">
          <a:xfrm>
            <a:off x="3309937" y="4749126"/>
            <a:ext cx="3767852" cy="471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3700"/>
              </a:lnSpc>
              <a:buNone/>
              <a:defRPr/>
            </a:pPr>
            <a:r>
              <a:rPr lang="en-US" sz="2000" b="1" dirty="0" err="1">
                <a:latin typeface="Roboto Medium"/>
                <a:ea typeface="Roboto Medium"/>
                <a:cs typeface="Roboto Medium"/>
              </a:rPr>
              <a:t>الخطوات</a:t>
            </a:r>
            <a:r>
              <a:rPr lang="en-US" sz="2000" b="1" dirty="0">
                <a:latin typeface="Roboto Medium"/>
                <a:ea typeface="Roboto Medium"/>
                <a:cs typeface="Roboto Medium"/>
              </a:rPr>
              <a:t> </a:t>
            </a:r>
            <a:r>
              <a:rPr lang="en-US" sz="2000" b="1" dirty="0" err="1">
                <a:latin typeface="Roboto Medium"/>
                <a:ea typeface="Roboto Medium"/>
                <a:cs typeface="Roboto Medium"/>
              </a:rPr>
              <a:t>التالية</a:t>
            </a:r>
            <a:r>
              <a:rPr lang="ar-YE" sz="2000" b="1" dirty="0">
                <a:latin typeface="Roboto Medium"/>
                <a:ea typeface="Roboto Medium"/>
                <a:cs typeface="Roboto Medium"/>
              </a:rPr>
              <a:t>:</a:t>
            </a:r>
            <a:endParaRPr lang="en-US" sz="2000" b="1" dirty="0"/>
          </a:p>
        </p:txBody>
      </p:sp>
      <p:sp>
        <p:nvSpPr>
          <p:cNvPr id="4" name="Text 11">
            <a:extLst>
              <a:ext uri="{FF2B5EF4-FFF2-40B4-BE49-F238E27FC236}">
                <a16:creationId xmlns:a16="http://schemas.microsoft.com/office/drawing/2014/main" id="{7680B711-8996-8981-62E2-0AB4B848A6F9}"/>
              </a:ext>
            </a:extLst>
          </p:cNvPr>
          <p:cNvSpPr/>
          <p:nvPr/>
        </p:nvSpPr>
        <p:spPr bwMode="auto">
          <a:xfrm>
            <a:off x="651748" y="2373035"/>
            <a:ext cx="6426041" cy="602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r" rtl="1">
              <a:lnSpc>
                <a:spcPts val="2350"/>
              </a:lnSpc>
              <a:buSzPct val="100000"/>
              <a:buChar char="•"/>
              <a:defRPr/>
            </a:pPr>
            <a:r>
              <a:rPr lang="en-US" sz="1450" dirty="0" err="1">
                <a:latin typeface="Roboto"/>
                <a:ea typeface="Roboto"/>
                <a:cs typeface="Roboto"/>
              </a:rPr>
              <a:t>البدء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الفوري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بالمرحلة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الأولى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من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التصميم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التفصيلي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للمكونات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الميكانيكية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والكهربائية</a:t>
            </a:r>
            <a:r>
              <a:rPr lang="en-US" sz="1450" dirty="0">
                <a:latin typeface="Roboto"/>
                <a:ea typeface="Roboto"/>
                <a:cs typeface="Roboto"/>
              </a:rPr>
              <a:t>.</a:t>
            </a:r>
            <a:endParaRPr lang="en-US" sz="1450" dirty="0"/>
          </a:p>
        </p:txBody>
      </p:sp>
      <p:sp>
        <p:nvSpPr>
          <p:cNvPr id="5" name="Text 12">
            <a:extLst>
              <a:ext uri="{FF2B5EF4-FFF2-40B4-BE49-F238E27FC236}">
                <a16:creationId xmlns:a16="http://schemas.microsoft.com/office/drawing/2014/main" id="{FF3441E9-3AEA-1488-EF27-C4B0A54691F1}"/>
              </a:ext>
            </a:extLst>
          </p:cNvPr>
          <p:cNvSpPr/>
          <p:nvPr/>
        </p:nvSpPr>
        <p:spPr bwMode="auto">
          <a:xfrm>
            <a:off x="651748" y="2823856"/>
            <a:ext cx="6426041" cy="602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r" rtl="1">
              <a:lnSpc>
                <a:spcPts val="2350"/>
              </a:lnSpc>
              <a:buSzPct val="100000"/>
              <a:buChar char="•"/>
              <a:defRPr/>
            </a:pPr>
            <a:r>
              <a:rPr lang="en-US" sz="1450" dirty="0" err="1">
                <a:latin typeface="Roboto"/>
                <a:ea typeface="Roboto"/>
                <a:cs typeface="Roboto"/>
              </a:rPr>
              <a:t>التركيز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على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اختيار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محركات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السيرفو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عالية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الدقة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لضمان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أفضل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أداء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للتحكم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في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الوزن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وسحب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الفيلم</a:t>
            </a:r>
            <a:r>
              <a:rPr lang="en-US" sz="1450" dirty="0">
                <a:latin typeface="Roboto"/>
                <a:ea typeface="Roboto"/>
                <a:cs typeface="Roboto"/>
              </a:rPr>
              <a:t>.</a:t>
            </a:r>
            <a:endParaRPr lang="en-US" sz="1450" dirty="0"/>
          </a:p>
        </p:txBody>
      </p:sp>
      <p:sp>
        <p:nvSpPr>
          <p:cNvPr id="6" name="Text 13">
            <a:extLst>
              <a:ext uri="{FF2B5EF4-FFF2-40B4-BE49-F238E27FC236}">
                <a16:creationId xmlns:a16="http://schemas.microsoft.com/office/drawing/2014/main" id="{DAA891F4-9A7B-29B2-3116-49286D420185}"/>
              </a:ext>
            </a:extLst>
          </p:cNvPr>
          <p:cNvSpPr/>
          <p:nvPr/>
        </p:nvSpPr>
        <p:spPr bwMode="auto">
          <a:xfrm>
            <a:off x="651748" y="3274677"/>
            <a:ext cx="6426041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350"/>
              </a:lnSpc>
              <a:buSzPct val="100000"/>
              <a:buChar char="•"/>
              <a:defRPr/>
            </a:pPr>
            <a:r>
              <a:rPr lang="en-US" sz="1450" dirty="0" err="1">
                <a:latin typeface="Roboto"/>
                <a:ea typeface="Roboto"/>
                <a:cs typeface="Roboto"/>
              </a:rPr>
              <a:t>إجراء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اختبارات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شاملة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ومكثفة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على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جميع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الأنظمة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قبل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البدء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في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الإنتاج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الكامل</a:t>
            </a:r>
            <a:r>
              <a:rPr lang="en-US" sz="1450" dirty="0">
                <a:latin typeface="Roboto"/>
                <a:ea typeface="Roboto"/>
                <a:cs typeface="Roboto"/>
              </a:rPr>
              <a:t>.</a:t>
            </a:r>
            <a:endParaRPr lang="en-US" sz="1450" dirty="0"/>
          </a:p>
        </p:txBody>
      </p:sp>
      <p:sp>
        <p:nvSpPr>
          <p:cNvPr id="7" name="Text 14">
            <a:extLst>
              <a:ext uri="{FF2B5EF4-FFF2-40B4-BE49-F238E27FC236}">
                <a16:creationId xmlns:a16="http://schemas.microsoft.com/office/drawing/2014/main" id="{96DA10F3-10F1-13A9-9BEB-ED75ED945938}"/>
              </a:ext>
            </a:extLst>
          </p:cNvPr>
          <p:cNvSpPr/>
          <p:nvPr/>
        </p:nvSpPr>
        <p:spPr bwMode="auto">
          <a:xfrm>
            <a:off x="651748" y="3707180"/>
            <a:ext cx="6426041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350"/>
              </a:lnSpc>
              <a:buSzPct val="100000"/>
              <a:buChar char="•"/>
              <a:defRPr/>
            </a:pPr>
            <a:r>
              <a:rPr lang="en-US" sz="1450" dirty="0" err="1">
                <a:latin typeface="Roboto"/>
                <a:ea typeface="Roboto"/>
                <a:cs typeface="Roboto"/>
              </a:rPr>
              <a:t>توثيق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جميع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العمليات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التصميمات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ونتائج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الاختبارات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لإنشاء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قاعدة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معرفية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قوية</a:t>
            </a:r>
            <a:r>
              <a:rPr lang="en-US" sz="1450" dirty="0">
                <a:latin typeface="Roboto"/>
                <a:ea typeface="Roboto"/>
                <a:cs typeface="Roboto"/>
              </a:rPr>
              <a:t>.</a:t>
            </a:r>
            <a:endParaRPr lang="en-US" sz="1450" dirty="0"/>
          </a:p>
        </p:txBody>
      </p:sp>
      <p:sp>
        <p:nvSpPr>
          <p:cNvPr id="8" name="Text 15">
            <a:extLst>
              <a:ext uri="{FF2B5EF4-FFF2-40B4-BE49-F238E27FC236}">
                <a16:creationId xmlns:a16="http://schemas.microsoft.com/office/drawing/2014/main" id="{2B6176B3-A44B-09BE-EE64-B7DD9B947A71}"/>
              </a:ext>
            </a:extLst>
          </p:cNvPr>
          <p:cNvSpPr/>
          <p:nvPr/>
        </p:nvSpPr>
        <p:spPr bwMode="auto">
          <a:xfrm>
            <a:off x="651748" y="4150570"/>
            <a:ext cx="6426041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350"/>
              </a:lnSpc>
              <a:buSzPct val="100000"/>
              <a:buChar char="•"/>
              <a:defRPr/>
            </a:pPr>
            <a:r>
              <a:rPr lang="en-US" sz="1450" dirty="0" err="1">
                <a:latin typeface="Roboto"/>
                <a:ea typeface="Roboto"/>
                <a:cs typeface="Roboto"/>
              </a:rPr>
              <a:t>التخطيط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المسبق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لبرنامج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صيانة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دورية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لضمان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استمرارية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الأداء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وعمر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أطول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للآلة</a:t>
            </a:r>
            <a:r>
              <a:rPr lang="en-US" sz="1450" dirty="0">
                <a:latin typeface="Roboto"/>
                <a:ea typeface="Roboto"/>
                <a:cs typeface="Roboto"/>
              </a:rPr>
              <a:t>.</a:t>
            </a:r>
            <a:endParaRPr lang="en-US" sz="14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B019FED-CB2D-14CD-F83A-9B1F74DEC834}"/>
              </a:ext>
            </a:extLst>
          </p:cNvPr>
          <p:cNvSpPr/>
          <p:nvPr/>
        </p:nvSpPr>
        <p:spPr bwMode="auto">
          <a:xfrm>
            <a:off x="7544990" y="4623673"/>
            <a:ext cx="6426041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350"/>
              </a:lnSpc>
              <a:buSzPct val="100000"/>
              <a:buChar char="•"/>
              <a:defRPr/>
            </a:pPr>
            <a:r>
              <a:rPr lang="en-US" sz="1450">
                <a:latin typeface="Roboto"/>
                <a:ea typeface="Roboto"/>
                <a:cs typeface="Roboto"/>
              </a:rPr>
              <a:t>الإنتاجية المستهدفة بواقع 15 كيسًا في الدقيقة قابلة للتحقق.</a:t>
            </a:r>
            <a:endParaRPr lang="en-US" sz="145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EFD2554-D64A-EAB3-801F-F68DEEC8FCF6}"/>
              </a:ext>
            </a:extLst>
          </p:cNvPr>
          <p:cNvSpPr/>
          <p:nvPr/>
        </p:nvSpPr>
        <p:spPr bwMode="auto">
          <a:xfrm>
            <a:off x="7544990" y="4990862"/>
            <a:ext cx="6426041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350"/>
              </a:lnSpc>
              <a:buSzPct val="100000"/>
              <a:buChar char="•"/>
              <a:defRPr/>
            </a:pPr>
            <a:r>
              <a:rPr lang="en-US" sz="1450" dirty="0" err="1">
                <a:latin typeface="Roboto"/>
                <a:ea typeface="Roboto"/>
                <a:cs typeface="Roboto"/>
              </a:rPr>
              <a:t>التكلفة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التقديرية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الإجمالية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للمشروع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تبلغ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حوالي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ar-YE" sz="1450" dirty="0">
                <a:latin typeface="Roboto"/>
                <a:ea typeface="Roboto"/>
                <a:cs typeface="Roboto"/>
              </a:rPr>
              <a:t>400,000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ريال</a:t>
            </a:r>
            <a:r>
              <a:rPr lang="en-US" sz="1450" dirty="0">
                <a:latin typeface="Roboto"/>
                <a:ea typeface="Roboto"/>
                <a:cs typeface="Roboto"/>
              </a:rPr>
              <a:t>.</a:t>
            </a:r>
            <a:endParaRPr lang="en-US" sz="14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EA4B234-38FE-2672-55CF-3F97546C4F2C}"/>
              </a:ext>
            </a:extLst>
          </p:cNvPr>
          <p:cNvSpPr/>
          <p:nvPr/>
        </p:nvSpPr>
        <p:spPr bwMode="auto">
          <a:xfrm>
            <a:off x="7544990" y="5358051"/>
            <a:ext cx="6426041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350"/>
              </a:lnSpc>
              <a:buSzPct val="100000"/>
              <a:buChar char="•"/>
              <a:defRPr/>
            </a:pPr>
            <a:r>
              <a:rPr lang="en-US" sz="1450" dirty="0" err="1">
                <a:latin typeface="Roboto"/>
                <a:ea typeface="Roboto"/>
                <a:cs typeface="Roboto"/>
              </a:rPr>
              <a:t>الجدول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الزمني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المقترح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لإنجاز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المشروع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يقدر</a:t>
            </a:r>
            <a:r>
              <a:rPr lang="en-US" sz="1450" dirty="0">
                <a:latin typeface="Roboto"/>
                <a:ea typeface="Roboto"/>
                <a:cs typeface="Roboto"/>
              </a:rPr>
              <a:t> بـ </a:t>
            </a:r>
            <a:r>
              <a:rPr lang="ar-YE" sz="1450" dirty="0">
                <a:latin typeface="Roboto"/>
                <a:ea typeface="Roboto"/>
                <a:cs typeface="Roboto"/>
              </a:rPr>
              <a:t>12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أسبوع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عمل</a:t>
            </a:r>
            <a:r>
              <a:rPr lang="en-US" sz="1450" dirty="0">
                <a:latin typeface="Roboto"/>
                <a:ea typeface="Roboto"/>
                <a:cs typeface="Roboto"/>
              </a:rPr>
              <a:t>.</a:t>
            </a:r>
            <a:endParaRPr lang="en-US" sz="145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664C99BB-B1E9-39A1-3674-C2425E337F36}"/>
              </a:ext>
            </a:extLst>
          </p:cNvPr>
          <p:cNvSpPr/>
          <p:nvPr/>
        </p:nvSpPr>
        <p:spPr bwMode="auto">
          <a:xfrm>
            <a:off x="10203180" y="1755646"/>
            <a:ext cx="3767852" cy="471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3700"/>
              </a:lnSpc>
              <a:buNone/>
              <a:defRPr/>
            </a:pPr>
            <a:r>
              <a:rPr lang="en-US" sz="2000" b="1" dirty="0" err="1">
                <a:latin typeface="Roboto Medium"/>
                <a:ea typeface="Roboto Medium"/>
                <a:cs typeface="Roboto Medium"/>
              </a:rPr>
              <a:t>ملخص</a:t>
            </a:r>
            <a:r>
              <a:rPr lang="en-US" sz="2000" b="1" dirty="0">
                <a:latin typeface="Roboto Medium"/>
                <a:ea typeface="Roboto Medium"/>
                <a:cs typeface="Roboto Medium"/>
              </a:rPr>
              <a:t> </a:t>
            </a:r>
            <a:r>
              <a:rPr lang="en-US" sz="2000" b="1" dirty="0" err="1">
                <a:latin typeface="Roboto Medium"/>
                <a:ea typeface="Roboto Medium"/>
                <a:cs typeface="Roboto Medium"/>
              </a:rPr>
              <a:t>النتائج</a:t>
            </a:r>
            <a:r>
              <a:rPr lang="en-US" sz="2000" b="1" dirty="0">
                <a:latin typeface="Roboto Medium"/>
                <a:ea typeface="Roboto Medium"/>
                <a:cs typeface="Roboto Medium"/>
              </a:rPr>
              <a:t> </a:t>
            </a:r>
            <a:r>
              <a:rPr lang="en-US" sz="2000" b="1" dirty="0" err="1">
                <a:latin typeface="Roboto Medium"/>
                <a:ea typeface="Roboto Medium"/>
                <a:cs typeface="Roboto Medium"/>
              </a:rPr>
              <a:t>الرئيسية</a:t>
            </a:r>
            <a:r>
              <a:rPr lang="ar-YE" sz="2000" b="1" dirty="0">
                <a:latin typeface="Roboto Medium"/>
                <a:ea typeface="Roboto Medium"/>
                <a:cs typeface="Roboto Medium"/>
              </a:rPr>
              <a:t>:</a:t>
            </a:r>
            <a:endParaRPr lang="en-US" sz="2000" b="1" dirty="0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581C2A97-E7FE-7177-C1F0-D4418C7BCFDC}"/>
              </a:ext>
            </a:extLst>
          </p:cNvPr>
          <p:cNvSpPr/>
          <p:nvPr/>
        </p:nvSpPr>
        <p:spPr bwMode="auto">
          <a:xfrm>
            <a:off x="7544990" y="2415014"/>
            <a:ext cx="6426041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350"/>
              </a:lnSpc>
              <a:buSzPct val="100000"/>
              <a:buChar char="•"/>
              <a:defRPr/>
            </a:pPr>
            <a:r>
              <a:rPr lang="en-US" sz="1450" dirty="0" err="1">
                <a:latin typeface="Roboto"/>
                <a:ea typeface="Roboto"/>
                <a:cs typeface="Roboto"/>
              </a:rPr>
              <a:t>تم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تطوير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تصميم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شامل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لآلة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تعبئة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وتغليف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الملح</a:t>
            </a:r>
            <a:r>
              <a:rPr lang="en-US" sz="1450" dirty="0">
                <a:latin typeface="Roboto"/>
                <a:ea typeface="Roboto"/>
                <a:cs typeface="Roboto"/>
              </a:rPr>
              <a:t>.</a:t>
            </a:r>
            <a:endParaRPr lang="en-US" sz="1450" dirty="0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8B94337E-7A41-A3BE-64E1-1390036A0EB6}"/>
              </a:ext>
            </a:extLst>
          </p:cNvPr>
          <p:cNvSpPr/>
          <p:nvPr/>
        </p:nvSpPr>
        <p:spPr bwMode="auto">
          <a:xfrm>
            <a:off x="7544990" y="2782202"/>
            <a:ext cx="6426041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350"/>
              </a:lnSpc>
              <a:buSzPct val="100000"/>
              <a:buChar char="•"/>
              <a:defRPr/>
            </a:pPr>
            <a:r>
              <a:rPr lang="en-US" sz="1450">
                <a:latin typeface="Roboto"/>
                <a:ea typeface="Roboto"/>
                <a:cs typeface="Roboto"/>
              </a:rPr>
              <a:t>الحسابات الهندسية تؤكد الجدوى الفنية والاقتصادية للنظام المقترح.</a:t>
            </a:r>
            <a:endParaRPr lang="en-US" sz="145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2F61B43F-5A05-D57F-45B4-FE461A86ECBE}"/>
              </a:ext>
            </a:extLst>
          </p:cNvPr>
          <p:cNvSpPr/>
          <p:nvPr/>
        </p:nvSpPr>
        <p:spPr bwMode="auto">
          <a:xfrm>
            <a:off x="7544990" y="3149390"/>
            <a:ext cx="6426041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350"/>
              </a:lnSpc>
              <a:buSzPct val="100000"/>
              <a:buChar char="•"/>
              <a:defRPr/>
            </a:pPr>
            <a:r>
              <a:rPr lang="en-US" sz="1450" dirty="0" err="1">
                <a:latin typeface="Roboto"/>
                <a:ea typeface="Roboto"/>
                <a:cs typeface="Roboto"/>
              </a:rPr>
              <a:t>المكونات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المختارة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تلبي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بفعالية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متطلبات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الدقة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السرعة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والكفاءة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المطلوبة</a:t>
            </a:r>
            <a:r>
              <a:rPr lang="en-US" sz="1450" dirty="0">
                <a:latin typeface="Roboto"/>
                <a:ea typeface="Roboto"/>
                <a:cs typeface="Roboto"/>
              </a:rPr>
              <a:t>.</a:t>
            </a:r>
            <a:endParaRPr lang="en-US" sz="145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0CBF56B2-359A-74E0-E220-CE2230C054D5}"/>
              </a:ext>
            </a:extLst>
          </p:cNvPr>
          <p:cNvSpPr/>
          <p:nvPr/>
        </p:nvSpPr>
        <p:spPr bwMode="auto">
          <a:xfrm>
            <a:off x="10203180" y="3639095"/>
            <a:ext cx="3767852" cy="471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3700"/>
              </a:lnSpc>
              <a:buNone/>
              <a:defRPr/>
            </a:pPr>
            <a:r>
              <a:rPr lang="en-US" sz="2000" b="1" dirty="0" err="1">
                <a:latin typeface="Roboto Medium"/>
                <a:ea typeface="Roboto Medium"/>
                <a:cs typeface="Roboto Medium"/>
              </a:rPr>
              <a:t>النقاط</a:t>
            </a:r>
            <a:r>
              <a:rPr lang="en-US" sz="2000" b="1" dirty="0">
                <a:latin typeface="Roboto Medium"/>
                <a:ea typeface="Roboto Medium"/>
                <a:cs typeface="Roboto Medium"/>
              </a:rPr>
              <a:t> </a:t>
            </a:r>
            <a:r>
              <a:rPr lang="en-US" sz="2000" b="1" dirty="0" err="1">
                <a:latin typeface="Roboto Medium"/>
                <a:ea typeface="Roboto Medium"/>
                <a:cs typeface="Roboto Medium"/>
              </a:rPr>
              <a:t>الرئيسية</a:t>
            </a:r>
            <a:r>
              <a:rPr lang="ar-YE" sz="2000" b="1" dirty="0">
                <a:latin typeface="Roboto Medium"/>
                <a:ea typeface="Roboto Medium"/>
                <a:cs typeface="Roboto Medium"/>
              </a:rPr>
              <a:t>:</a:t>
            </a:r>
            <a:endParaRPr lang="en-US" sz="2000" b="1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3934FBDE-10AA-AAC7-BC3A-6FE3F9617D89}"/>
              </a:ext>
            </a:extLst>
          </p:cNvPr>
          <p:cNvSpPr/>
          <p:nvPr/>
        </p:nvSpPr>
        <p:spPr bwMode="auto">
          <a:xfrm>
            <a:off x="7544990" y="4298463"/>
            <a:ext cx="6426041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350"/>
              </a:lnSpc>
              <a:buSzPct val="100000"/>
              <a:buChar char="•"/>
              <a:defRPr/>
            </a:pPr>
            <a:r>
              <a:rPr lang="en-US" sz="1450">
                <a:latin typeface="Roboto"/>
                <a:ea typeface="Roboto"/>
                <a:cs typeface="Roboto"/>
              </a:rPr>
              <a:t>دقة وزن المنتج المعبأ يمكن تحقيقها ضمن هامش ±3%.</a:t>
            </a:r>
            <a:endParaRPr lang="en-US" sz="145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CB75A6F2-BDB9-AF53-C272-6EF799CE9401}"/>
              </a:ext>
            </a:extLst>
          </p:cNvPr>
          <p:cNvSpPr/>
          <p:nvPr/>
        </p:nvSpPr>
        <p:spPr bwMode="auto">
          <a:xfrm>
            <a:off x="651748" y="5408494"/>
            <a:ext cx="6426041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350"/>
              </a:lnSpc>
              <a:buSzPct val="100000"/>
              <a:buChar char="•"/>
              <a:defRPr/>
            </a:pPr>
            <a:r>
              <a:rPr lang="en-US" sz="1450" dirty="0" err="1">
                <a:latin typeface="Roboto"/>
                <a:ea typeface="Roboto"/>
                <a:cs typeface="Roboto"/>
              </a:rPr>
              <a:t>تطوير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الرسومات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الهندسية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التفصيلية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والنماذج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ثلاثية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الأبعاد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للآلة</a:t>
            </a:r>
            <a:r>
              <a:rPr lang="en-US" sz="1450" dirty="0">
                <a:latin typeface="Roboto"/>
                <a:ea typeface="Roboto"/>
                <a:cs typeface="Roboto"/>
              </a:rPr>
              <a:t>.</a:t>
            </a:r>
            <a:endParaRPr lang="en-US" sz="1450" dirty="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DE0D6A50-34EB-DA01-2639-46952E6789E5}"/>
              </a:ext>
            </a:extLst>
          </p:cNvPr>
          <p:cNvSpPr/>
          <p:nvPr/>
        </p:nvSpPr>
        <p:spPr bwMode="auto">
          <a:xfrm>
            <a:off x="651748" y="5775683"/>
            <a:ext cx="6426041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350"/>
              </a:lnSpc>
              <a:buSzPct val="100000"/>
              <a:buChar char="•"/>
              <a:defRPr/>
            </a:pPr>
            <a:r>
              <a:rPr lang="en-US" sz="1450">
                <a:latin typeface="Roboto"/>
                <a:ea typeface="Roboto"/>
                <a:cs typeface="Roboto"/>
              </a:rPr>
              <a:t>البدء في البحث عن الموردين المحتملين للمكونات والمواد الخام.</a:t>
            </a:r>
            <a:endParaRPr lang="en-US" sz="145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E9A4D045-D477-310D-7878-7EC5672CBB0C}"/>
              </a:ext>
            </a:extLst>
          </p:cNvPr>
          <p:cNvSpPr/>
          <p:nvPr/>
        </p:nvSpPr>
        <p:spPr bwMode="auto">
          <a:xfrm>
            <a:off x="651748" y="6142872"/>
            <a:ext cx="6426041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350"/>
              </a:lnSpc>
              <a:buSzPct val="100000"/>
              <a:buChar char="•"/>
              <a:defRPr/>
            </a:pPr>
            <a:r>
              <a:rPr lang="en-US" sz="1450">
                <a:latin typeface="Roboto"/>
                <a:ea typeface="Roboto"/>
                <a:cs typeface="Roboto"/>
              </a:rPr>
              <a:t>تطوير البرنامج الثابت (Firmware) اللازم للتحكم في الآلة والمستشعرات.</a:t>
            </a:r>
            <a:endParaRPr lang="en-US" sz="145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608FC03B-4F5F-236C-BA56-3CD9A88C9139}"/>
              </a:ext>
            </a:extLst>
          </p:cNvPr>
          <p:cNvSpPr/>
          <p:nvPr/>
        </p:nvSpPr>
        <p:spPr bwMode="auto">
          <a:xfrm>
            <a:off x="651748" y="6510061"/>
            <a:ext cx="6426041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350"/>
              </a:lnSpc>
              <a:buSzPct val="100000"/>
              <a:buChar char="•"/>
              <a:defRPr/>
            </a:pPr>
            <a:r>
              <a:rPr lang="en-US" sz="1450">
                <a:latin typeface="Roboto"/>
                <a:ea typeface="Roboto"/>
                <a:cs typeface="Roboto"/>
              </a:rPr>
              <a:t>إعداد خطة الاختبار الشاملة والتحقق من المعايير المطلوبة.</a:t>
            </a:r>
            <a:endParaRPr lang="en-US" sz="1450"/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B7B7F26D-C5C4-CC63-4FFD-1DCF9A5DBB5E}"/>
              </a:ext>
            </a:extLst>
          </p:cNvPr>
          <p:cNvSpPr/>
          <p:nvPr/>
        </p:nvSpPr>
        <p:spPr bwMode="auto">
          <a:xfrm>
            <a:off x="10008634" y="594727"/>
            <a:ext cx="4709874" cy="588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4600"/>
              </a:lnSpc>
              <a:buNone/>
              <a:defRPr/>
            </a:pPr>
            <a:r>
              <a:rPr lang="en-US" sz="3700" b="1" dirty="0" err="1">
                <a:latin typeface="Inter Bold"/>
                <a:ea typeface="Roboto Medium"/>
                <a:cs typeface="Roboto Medium"/>
              </a:rPr>
              <a:t>الخلاصة</a:t>
            </a:r>
            <a:r>
              <a:rPr lang="en-US" sz="3700" b="1" dirty="0">
                <a:latin typeface="Inter Bold"/>
                <a:ea typeface="Roboto Medium"/>
                <a:cs typeface="Roboto Medium"/>
              </a:rPr>
              <a:t> </a:t>
            </a:r>
            <a:r>
              <a:rPr lang="en-US" sz="3700" b="1" dirty="0" err="1">
                <a:latin typeface="Inter Bold"/>
                <a:ea typeface="Roboto Medium"/>
                <a:cs typeface="Roboto Medium"/>
              </a:rPr>
              <a:t>والتوصيات</a:t>
            </a:r>
            <a:endParaRPr lang="en-US" sz="3700" b="1" dirty="0">
              <a:latin typeface="Inter Bold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9FB9FA1-68D9-6EA1-AC43-F44155AB6CED}"/>
              </a:ext>
            </a:extLst>
          </p:cNvPr>
          <p:cNvSpPr/>
          <p:nvPr/>
        </p:nvSpPr>
        <p:spPr bwMode="auto">
          <a:xfrm>
            <a:off x="659368" y="7274243"/>
            <a:ext cx="13311664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350"/>
              </a:lnSpc>
              <a:buNone/>
              <a:defRPr/>
            </a:pPr>
            <a:r>
              <a:rPr lang="en-US" sz="1450" dirty="0" err="1">
                <a:latin typeface="Roboto"/>
                <a:ea typeface="Roboto"/>
                <a:cs typeface="Roboto"/>
              </a:rPr>
              <a:t>توفر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هذه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الخلاصة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خارطة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طريق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واضحة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للمضي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قدمًا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في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المشروع</a:t>
            </a:r>
            <a:r>
              <a:rPr lang="en-US" sz="1450" dirty="0">
                <a:latin typeface="Roboto"/>
                <a:ea typeface="Roboto"/>
                <a:cs typeface="Roboto"/>
              </a:rPr>
              <a:t>، </a:t>
            </a:r>
            <a:r>
              <a:rPr lang="en-US" sz="1450" dirty="0" err="1">
                <a:latin typeface="Roboto"/>
                <a:ea typeface="Roboto"/>
                <a:cs typeface="Roboto"/>
              </a:rPr>
              <a:t>مع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التركيز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على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الكفاءة</a:t>
            </a:r>
            <a:r>
              <a:rPr lang="en-US" sz="1450" dirty="0">
                <a:latin typeface="Roboto"/>
                <a:ea typeface="Roboto"/>
                <a:cs typeface="Roboto"/>
              </a:rPr>
              <a:t> </a:t>
            </a:r>
            <a:r>
              <a:rPr lang="en-US" sz="1450" dirty="0" err="1">
                <a:latin typeface="Roboto"/>
                <a:ea typeface="Roboto"/>
                <a:cs typeface="Roboto"/>
              </a:rPr>
              <a:t>والجودة</a:t>
            </a:r>
            <a:r>
              <a:rPr lang="en-US" sz="1450" dirty="0">
                <a:latin typeface="Roboto"/>
                <a:ea typeface="Roboto"/>
                <a:cs typeface="Roboto"/>
              </a:rPr>
              <a:t>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044555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390</TotalTime>
  <Words>1295</Words>
  <Application>Microsoft Office PowerPoint</Application>
  <PresentationFormat>Custom</PresentationFormat>
  <Paragraphs>150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Inter</vt:lpstr>
      <vt:lpstr>Inter Bold</vt:lpstr>
      <vt:lpstr>Roboto Medium</vt:lpstr>
      <vt:lpstr>Wingdings</vt:lpstr>
      <vt:lpstr>Roboto</vt:lpstr>
      <vt:lpstr>Times New Roman</vt:lpstr>
      <vt:lpstr>Calibri Light</vt:lpstr>
      <vt:lpstr>Symbol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Thinkpad</dc:creator>
  <cp:lastModifiedBy>ATC</cp:lastModifiedBy>
  <cp:revision>10</cp:revision>
  <dcterms:created xsi:type="dcterms:W3CDTF">2026-01-12T00:48:52Z</dcterms:created>
  <dcterms:modified xsi:type="dcterms:W3CDTF">2026-02-09T02:30:08Z</dcterms:modified>
</cp:coreProperties>
</file>